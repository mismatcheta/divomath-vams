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7_C6AD0F17.xml" ContentType="application/vnd.ms-powerpoint.comments+xml"/>
  <Override PartName="/ppt/comments/modernComment_106_E0AB6C79.xml" ContentType="application/vnd.ms-powerpoint.comments+xml"/>
  <Override PartName="/ppt/comments/modernComment_108_75C87C06.xml" ContentType="application/vnd.ms-powerpoint.comments+xml"/>
  <Override PartName="/ppt/comments/modernComment_10B_D6BA82F5.xml" ContentType="application/vnd.ms-powerpoint.comments+xml"/>
  <Override PartName="/ppt/comments/modernComment_10C_9D04F8F6.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3" r:id="rId3"/>
    <p:sldId id="266" r:id="rId4"/>
    <p:sldId id="262" r:id="rId5"/>
    <p:sldId id="264" r:id="rId6"/>
    <p:sldId id="267" r:id="rId7"/>
    <p:sldId id="268" r:id="rId8"/>
    <p:sldId id="265" r:id="rId9"/>
  </p:sldIdLst>
  <p:sldSz cx="9144000" cy="6858000" type="screen4x3"/>
  <p:notesSz cx="6858000" cy="9144000"/>
  <p:defaultTextStyle>
    <a:defPPr>
      <a:defRPr lang="en-US"/>
    </a:defPPr>
    <a:lvl1pPr marL="0" algn="l" defTabSz="457200">
      <a:defRPr sz="1800">
        <a:solidFill>
          <a:schemeClr val="tx1"/>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2880">
          <p15:clr>
            <a:srgbClr val="A4A3A4"/>
          </p15:clr>
        </p15:guide>
        <p15:guide id="2" orient="horz"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77A2804-A422-83DE-D2BB-A8E394F80F7A}" name="Marcus Röhming" initials="MR" userId="0f725a30e114f0f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056" y="306"/>
      </p:cViewPr>
      <p:guideLst>
        <p:guide pos="288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us Röhming" userId="0f725a30e114f0f8" providerId="LiveId" clId="{E60D6D68-0268-47C9-88E6-3C41BFC3426C}"/>
    <pc:docChg chg="modSld">
      <pc:chgData name="Marcus Röhming" userId="0f725a30e114f0f8" providerId="LiveId" clId="{E60D6D68-0268-47C9-88E6-3C41BFC3426C}" dt="2025-06-13T10:33:38.562" v="6" actId="13926"/>
      <pc:docMkLst>
        <pc:docMk/>
      </pc:docMkLst>
      <pc:sldChg chg="modSp mod">
        <pc:chgData name="Marcus Röhming" userId="0f725a30e114f0f8" providerId="LiveId" clId="{E60D6D68-0268-47C9-88E6-3C41BFC3426C}" dt="2025-06-13T10:33:38.562" v="6" actId="13926"/>
        <pc:sldMkLst>
          <pc:docMk/>
          <pc:sldMk cId="3333230359" sldId="263"/>
        </pc:sldMkLst>
        <pc:spChg chg="mod">
          <ac:chgData name="Marcus Röhming" userId="0f725a30e114f0f8" providerId="LiveId" clId="{E60D6D68-0268-47C9-88E6-3C41BFC3426C}" dt="2025-06-13T10:33:38.562" v="6" actId="13926"/>
          <ac:spMkLst>
            <pc:docMk/>
            <pc:sldMk cId="3333230359" sldId="263"/>
            <ac:spMk id="2" creationId="{00000000-0000-0000-0000-000000000000}"/>
          </ac:spMkLst>
        </pc:spChg>
      </pc:sldChg>
    </pc:docChg>
  </pc:docChgLst>
</pc:chgInfo>
</file>

<file path=ppt/comments/modernComment_10B_D6BA82F5.xml><?xml version="1.0" encoding="utf-8"?>
<p188:cmLst xmlns:a="http://schemas.openxmlformats.org/drawingml/2006/main" xmlns:r="http://schemas.openxmlformats.org/officeDocument/2006/relationships" xmlns:p188="http://schemas.microsoft.com/office/powerpoint/2018/8/main">
  <p188:cm id="{41E07BAE-8E5D-4358-8AE1-EE7BBFAF04FD}" authorId="{477A2804-A422-83DE-D2BB-A8E394F80F7A}" created="2025-06-12T11:44:40.991">
    <pc:sldMkLst xmlns:pc="http://schemas.microsoft.com/office/powerpoint/2013/main/command">
      <pc:docMk/>
      <pc:sldMk cId="3602547445" sldId="267"/>
    </pc:sldMkLst>
    <p188:txBody>
      <a:bodyPr/>
      <a:lstStyle/>
      <a:p>
        <a:r>
          <a:rPr lang="de-DE"/>
          <a:t>Prio niedrig</a:t>
        </a:r>
      </a:p>
    </p188:txBody>
  </p188:cm>
</p188:cmLst>
</file>

<file path=ppt/comments/modernComment_10C_9D04F8F6.xml><?xml version="1.0" encoding="utf-8"?>
<p188:cmLst xmlns:a="http://schemas.openxmlformats.org/drawingml/2006/main" xmlns:r="http://schemas.openxmlformats.org/officeDocument/2006/relationships" xmlns:p188="http://schemas.microsoft.com/office/powerpoint/2018/8/main">
  <p188:cm id="{12AD6BA2-3819-4804-A318-E4CDF2E1F2E5}" authorId="{477A2804-A422-83DE-D2BB-A8E394F80F7A}" created="2025-06-12T11:51:02.326">
    <ac:txMkLst xmlns:ac="http://schemas.microsoft.com/office/drawing/2013/main/command">
      <pc:docMk xmlns:pc="http://schemas.microsoft.com/office/powerpoint/2013/main/command"/>
      <pc:sldMk xmlns:pc="http://schemas.microsoft.com/office/powerpoint/2013/main/command" cId="2634348790" sldId="268"/>
      <ac:spMk id="2" creationId="{00000000-0000-0000-0000-000000000000}"/>
      <ac:txMk cp="0" len="788">
        <ac:context len="790" hash="2272817027"/>
      </ac:txMk>
    </ac:txMkLst>
    <p188:pos x="8590264" y="258032"/>
    <p188:replyLst>
      <p188:reply id="{3C6C9247-355D-4C9A-8366-A017C9196E88}" authorId="{477A2804-A422-83DE-D2BB-A8E394F80F7A}" created="2025-06-12T11:51:09.173">
        <p188:txBody>
          <a:bodyPr/>
          <a:lstStyle/>
          <a:p>
            <a:r>
              <a:rPr lang="de-DE"/>
              <a:t>Prio: so mittel oder so</a:t>
            </a:r>
          </a:p>
        </p188:txBody>
      </p188:reply>
    </p188:replyLst>
    <p188:txBody>
      <a:bodyPr/>
      <a:lstStyle/>
      <a:p>
        <a:r>
          <a:rPr lang="de-DE"/>
          <a:t>Grundbalken anfassbar.</a:t>
        </a:r>
      </a:p>
    </p188:txBody>
  </p188:cm>
</p188:cmLst>
</file>

<file path=ppt/comments/modernComment_106_E0AB6C79.xml><?xml version="1.0" encoding="utf-8"?>
<p188:cmLst xmlns:a="http://schemas.openxmlformats.org/drawingml/2006/main" xmlns:r="http://schemas.openxmlformats.org/officeDocument/2006/relationships" xmlns:p188="http://schemas.microsoft.com/office/powerpoint/2018/8/main">
  <p188:cm id="{6D8A81D8-FE35-4135-B199-5FCBD9156DD3}" authorId="{477A2804-A422-83DE-D2BB-A8E394F80F7A}" created="2025-06-12T11:34:52.840">
    <ac:txMkLst xmlns:ac="http://schemas.microsoft.com/office/drawing/2013/main/command">
      <pc:docMk xmlns:pc="http://schemas.microsoft.com/office/powerpoint/2013/main/command"/>
      <pc:sldMk xmlns:pc="http://schemas.microsoft.com/office/powerpoint/2013/main/command" cId="3769330809" sldId="262"/>
      <ac:spMk id="2" creationId="{00000000-0000-0000-0000-000000000000}"/>
      <ac:txMk cp="17" len="119">
        <ac:context len="284" hash="139654849"/>
      </ac:txMk>
    </ac:txMkLst>
    <p188:pos x="8518546" y="500078"/>
    <p188:txBody>
      <a:bodyPr/>
      <a:lstStyle/>
      <a:p>
        <a:r>
          <a:rPr lang="de-DE"/>
          <a:t>Muss nicht bis Anfang Juli</a:t>
        </a:r>
      </a:p>
    </p188:txBody>
  </p188:cm>
  <p188:cm id="{95315D02-F93F-4E2A-9B30-93EFC7A2B5CE}" authorId="{477A2804-A422-83DE-D2BB-A8E394F80F7A}" created="2025-06-12T11:35:31.294">
    <ac:txMkLst xmlns:ac="http://schemas.microsoft.com/office/drawing/2013/main/command">
      <pc:docMk xmlns:pc="http://schemas.microsoft.com/office/powerpoint/2013/main/command"/>
      <pc:sldMk xmlns:pc="http://schemas.microsoft.com/office/powerpoint/2013/main/command" cId="3769330809" sldId="262"/>
      <ac:spMk id="2" creationId="{00000000-0000-0000-0000-000000000000}"/>
      <ac:txMk cp="142" len="141">
        <ac:context len="284" hash="139654849"/>
      </ac:txMk>
    </ac:txMkLst>
    <p188:pos x="8258570" y="2911584"/>
    <p188:txBody>
      <a:bodyPr/>
      <a:lstStyle/>
      <a:p>
        <a:r>
          <a:rPr lang="de-DE"/>
          <a:t>Prio hoch.</a:t>
        </a:r>
      </a:p>
    </p188:txBody>
  </p188:cm>
</p188:cmLst>
</file>

<file path=ppt/comments/modernComment_107_C6AD0F17.xml><?xml version="1.0" encoding="utf-8"?>
<p188:cmLst xmlns:a="http://schemas.openxmlformats.org/drawingml/2006/main" xmlns:r="http://schemas.openxmlformats.org/officeDocument/2006/relationships" xmlns:p188="http://schemas.microsoft.com/office/powerpoint/2018/8/main">
  <p188:cm id="{6E96235B-389E-44EB-A662-4A3B47C00470}" authorId="{477A2804-A422-83DE-D2BB-A8E394F80F7A}" created="2025-06-12T11:27:58.290">
    <ac:txMkLst xmlns:ac="http://schemas.microsoft.com/office/drawing/2013/main/command">
      <pc:docMk xmlns:pc="http://schemas.microsoft.com/office/powerpoint/2013/main/command"/>
      <pc:sldMk xmlns:pc="http://schemas.microsoft.com/office/powerpoint/2013/main/command" cId="3333230359" sldId="263"/>
      <ac:spMk id="2" creationId="{00000000-0000-0000-0000-000000000000}"/>
      <ac:txMk cp="766" len="156">
        <ac:context len="923" hash="84431509"/>
      </ac:txMk>
    </ac:txMkLst>
    <p188:pos x="8204781" y="4363867"/>
    <p188:txBody>
      <a:bodyPr/>
      <a:lstStyle/>
      <a:p>
        <a:r>
          <a:rPr lang="de-DE"/>
          <a:t>Aufwändiger, geringe Priorität</a:t>
        </a:r>
      </a:p>
    </p188:txBody>
  </p188:cm>
</p188:cmLst>
</file>

<file path=ppt/comments/modernComment_108_75C87C06.xml><?xml version="1.0" encoding="utf-8"?>
<p188:cmLst xmlns:a="http://schemas.openxmlformats.org/drawingml/2006/main" xmlns:r="http://schemas.openxmlformats.org/officeDocument/2006/relationships" xmlns:p188="http://schemas.microsoft.com/office/powerpoint/2018/8/main">
  <p188:cm id="{3D8A01AA-9C2E-4DAA-BF4F-9491E8FF53BB}" authorId="{477A2804-A422-83DE-D2BB-A8E394F80F7A}" created="2025-06-12T11:36:27.036">
    <ac:txMkLst xmlns:ac="http://schemas.microsoft.com/office/drawing/2013/main/command">
      <pc:docMk xmlns:pc="http://schemas.microsoft.com/office/powerpoint/2013/main/command"/>
      <pc:sldMk xmlns:pc="http://schemas.microsoft.com/office/powerpoint/2013/main/command" cId="1976073222" sldId="264"/>
      <ac:spMk id="2" creationId="{00000000-0000-0000-0000-000000000000}"/>
      <ac:txMk cp="0" len="120">
        <ac:context len="464" hash="3676283257"/>
      </ac:txMk>
    </ac:txMkLst>
    <p188:pos x="7944805" y="258032"/>
    <p188:txBody>
      <a:bodyPr/>
      <a:lstStyle/>
      <a:p>
        <a:r>
          <a:rPr lang="de-DE"/>
          <a:t>Prio hoch</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4"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A9096BC-B6A5-B821-3953-7AD42676A175}" type="slidenum">
              <a:rPr/>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Einheitstitel">
    <p:spTree>
      <p:nvGrpSpPr>
        <p:cNvPr id="1" name=""/>
        <p:cNvGrpSpPr/>
        <p:nvPr/>
      </p:nvGrpSpPr>
      <p:grpSpPr bwMode="auto">
        <a:xfrm>
          <a:off x="0" y="0"/>
          <a:ext cx="0" cy="0"/>
          <a:chOff x="0" y="0"/>
          <a:chExt cx="0" cy="0"/>
        </a:xfrm>
      </p:grpSpPr>
      <p:sp>
        <p:nvSpPr>
          <p:cNvPr id="7" name="Inhaltsplatzhalter 6"/>
          <p:cNvSpPr>
            <a:spLocks noGrp="1"/>
          </p:cNvSpPr>
          <p:nvPr>
            <p:ph sz="quarter" idx="12" hasCustomPrompt="1"/>
          </p:nvPr>
        </p:nvSpPr>
        <p:spPr bwMode="auto">
          <a:xfrm>
            <a:off x="1152939" y="2833687"/>
            <a:ext cx="6838122" cy="384175"/>
          </a:xfrm>
          <a:prstGeom prst="rect">
            <a:avLst/>
          </a:prstGeom>
        </p:spPr>
        <p:txBody>
          <a:bodyPr/>
          <a:lstStyle>
            <a:lvl1pPr marL="0" indent="0" algn="ctr">
              <a:buNone/>
              <a:defRPr>
                <a:latin typeface="Be Vietnam"/>
              </a:defRPr>
            </a:lvl1pPr>
          </a:lstStyle>
          <a:p>
            <a:pPr lvl="0">
              <a:defRPr/>
            </a:pPr>
            <a:r>
              <a:rPr lang="de-DE"/>
              <a:t>Einheitstitel</a:t>
            </a:r>
            <a:endParaRPr/>
          </a:p>
        </p:txBody>
      </p:sp>
      <p:sp>
        <p:nvSpPr>
          <p:cNvPr id="8" name="Rechteck 7"/>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Sequenztitel">
    <p:spTree>
      <p:nvGrpSpPr>
        <p:cNvPr id="1" name=""/>
        <p:cNvGrpSpPr/>
        <p:nvPr/>
      </p:nvGrpSpPr>
      <p:grpSpPr bwMode="auto">
        <a:xfrm>
          <a:off x="0" y="0"/>
          <a:ext cx="0" cy="0"/>
          <a:chOff x="0" y="0"/>
          <a:chExt cx="0" cy="0"/>
        </a:xfrm>
      </p:grpSpPr>
      <p:sp>
        <p:nvSpPr>
          <p:cNvPr id="7" name="Oval 1"/>
          <p:cNvSpPr/>
          <p:nvPr userDrawn="1"/>
        </p:nvSpPr>
        <p:spPr bwMode="auto">
          <a:xfrm>
            <a:off x="4664765" y="2878211"/>
            <a:ext cx="1080000" cy="1080000"/>
          </a:xfrm>
          <a:prstGeom prst="ellipse">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8" name="Inhaltsplatzhalter 6"/>
          <p:cNvSpPr>
            <a:spLocks noGrp="1"/>
          </p:cNvSpPr>
          <p:nvPr>
            <p:ph sz="quarter" idx="12" hasCustomPrompt="1"/>
          </p:nvPr>
        </p:nvSpPr>
        <p:spPr bwMode="auto">
          <a:xfrm>
            <a:off x="3397516" y="3248742"/>
            <a:ext cx="1080000" cy="706166"/>
          </a:xfrm>
          <a:prstGeom prst="rect">
            <a:avLst/>
          </a:prstGeom>
        </p:spPr>
        <p:txBody>
          <a:bodyPr anchor="ctr"/>
          <a:lstStyle>
            <a:lvl1pPr marL="0" indent="0" algn="ctr">
              <a:buNone/>
              <a:defRPr sz="3200">
                <a:latin typeface="Be Vietnam"/>
              </a:defRPr>
            </a:lvl1pPr>
          </a:lstStyle>
          <a:p>
            <a:pPr lvl="0">
              <a:defRPr/>
            </a:pPr>
            <a:r>
              <a:rPr lang="de-DE"/>
              <a:t>Nr.</a:t>
            </a:r>
            <a:endParaRPr/>
          </a:p>
        </p:txBody>
      </p:sp>
      <p:sp>
        <p:nvSpPr>
          <p:cNvPr id="9" name="Inhaltsplatzhalter 6"/>
          <p:cNvSpPr>
            <a:spLocks noGrp="1"/>
          </p:cNvSpPr>
          <p:nvPr>
            <p:ph sz="quarter" idx="13" hasCustomPrompt="1"/>
          </p:nvPr>
        </p:nvSpPr>
        <p:spPr bwMode="auto">
          <a:xfrm>
            <a:off x="1152939" y="2003920"/>
            <a:ext cx="6838122" cy="661231"/>
          </a:xfrm>
          <a:prstGeom prst="rect">
            <a:avLst/>
          </a:prstGeom>
        </p:spPr>
        <p:txBody>
          <a:bodyPr anchor="ctr"/>
          <a:lstStyle>
            <a:lvl1pPr marL="0" indent="0" algn="ctr">
              <a:buNone/>
              <a:defRPr sz="2000">
                <a:latin typeface="Be Vietnam"/>
              </a:defRPr>
            </a:lvl1pPr>
          </a:lstStyle>
          <a:p>
            <a:pPr lvl="0">
              <a:defRPr/>
            </a:pPr>
            <a:r>
              <a:rPr lang="de-DE"/>
              <a:t>Sequenztitel</a:t>
            </a:r>
            <a:endParaRPr/>
          </a:p>
        </p:txBody>
      </p:sp>
      <p:sp>
        <p:nvSpPr>
          <p:cNvPr id="10" name="Bildplatzhalter 8"/>
          <p:cNvSpPr>
            <a:spLocks noGrp="1"/>
          </p:cNvSpPr>
          <p:nvPr>
            <p:ph type="pic" sz="quarter" idx="14" hasCustomPrompt="1"/>
          </p:nvPr>
        </p:nvSpPr>
        <p:spPr bwMode="auto">
          <a:xfrm>
            <a:off x="4664765" y="2878211"/>
            <a:ext cx="1080000" cy="1080000"/>
          </a:xfrm>
          <a:prstGeom prst="rect">
            <a:avLst/>
          </a:prstGeom>
        </p:spPr>
        <p:txBody>
          <a:bodyPr anchor="ctr"/>
          <a:lstStyle>
            <a:lvl1pPr marL="0" indent="0" algn="ctr">
              <a:buNone/>
              <a:defRPr>
                <a:latin typeface="Be Vietnam"/>
              </a:defRPr>
            </a:lvl1pPr>
          </a:lstStyle>
          <a:p>
            <a:pPr>
              <a:defRPr/>
            </a:pPr>
            <a:r>
              <a:rPr lang="de-DE"/>
              <a:t>Icon</a:t>
            </a:r>
            <a:endParaRPr/>
          </a:p>
        </p:txBody>
      </p:sp>
      <p:sp>
        <p:nvSpPr>
          <p:cNvPr id="11" name="Textfeld 10"/>
          <p:cNvSpPr txBox="1"/>
          <p:nvPr userDrawn="1"/>
        </p:nvSpPr>
        <p:spPr bwMode="auto">
          <a:xfrm>
            <a:off x="3397516" y="2739711"/>
            <a:ext cx="1080000" cy="646331"/>
          </a:xfrm>
          <a:prstGeom prst="rect">
            <a:avLst/>
          </a:prstGeom>
          <a:noFill/>
        </p:spPr>
        <p:txBody>
          <a:bodyPr wrap="square" rtlCol="0" anchor="ctr">
            <a:spAutoFit/>
          </a:bodyPr>
          <a:lstStyle/>
          <a:p>
            <a:pPr algn="ctr">
              <a:defRPr/>
            </a:pPr>
            <a:r>
              <a:rPr lang="de-DE">
                <a:latin typeface="Be Vietnam"/>
              </a:rPr>
              <a:t>Aufgabe</a:t>
            </a:r>
            <a:endParaRPr/>
          </a:p>
        </p:txBody>
      </p:sp>
      <p:sp>
        <p:nvSpPr>
          <p:cNvPr id="12" name="Inhaltsplatzhalter 6"/>
          <p:cNvSpPr>
            <a:spLocks noGrp="1"/>
          </p:cNvSpPr>
          <p:nvPr>
            <p:ph sz="quarter" idx="15" hasCustomPrompt="1"/>
          </p:nvPr>
        </p:nvSpPr>
        <p:spPr bwMode="auto">
          <a:xfrm>
            <a:off x="1152939" y="1501660"/>
            <a:ext cx="6838122" cy="340559"/>
          </a:xfrm>
          <a:prstGeom prst="rect">
            <a:avLst/>
          </a:prstGeom>
        </p:spPr>
        <p:txBody>
          <a:bodyPr anchor="ctr"/>
          <a:lstStyle>
            <a:lvl1pPr marL="0" indent="0" algn="ctr">
              <a:buNone/>
              <a:defRPr sz="1600">
                <a:latin typeface="Be Vietnam"/>
              </a:defRPr>
            </a:lvl1pPr>
          </a:lstStyle>
          <a:p>
            <a:pPr lvl="0">
              <a:defRPr/>
            </a:pPr>
            <a:r>
              <a:rPr lang="de-DE"/>
              <a:t>Einheitstitel</a:t>
            </a:r>
            <a:endParaRPr/>
          </a:p>
        </p:txBody>
      </p:sp>
      <p:sp>
        <p:nvSpPr>
          <p:cNvPr id="13" name="Rechteck 12"/>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Sequenzübersicht">
    <p:spTree>
      <p:nvGrpSpPr>
        <p:cNvPr id="1" name=""/>
        <p:cNvGrpSpPr/>
        <p:nvPr/>
      </p:nvGrpSpPr>
      <p:grpSpPr bwMode="auto">
        <a:xfrm>
          <a:off x="0" y="0"/>
          <a:ext cx="0" cy="0"/>
          <a:chOff x="0" y="0"/>
          <a:chExt cx="0" cy="0"/>
        </a:xfrm>
      </p:grpSpPr>
      <p:sp>
        <p:nvSpPr>
          <p:cNvPr id="7" name="Oval 3"/>
          <p:cNvSpPr/>
          <p:nvPr userDrawn="1"/>
        </p:nvSpPr>
        <p:spPr bwMode="auto">
          <a:xfrm>
            <a:off x="552309" y="810568"/>
            <a:ext cx="685459" cy="450965"/>
          </a:xfrm>
          <a:prstGeom prst="ellipse">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8" name="Inhaltsplatzhalter 6"/>
          <p:cNvSpPr>
            <a:spLocks noGrp="1"/>
          </p:cNvSpPr>
          <p:nvPr>
            <p:ph sz="quarter" idx="12" hasCustomPrompt="1"/>
          </p:nvPr>
        </p:nvSpPr>
        <p:spPr bwMode="auto">
          <a:xfrm>
            <a:off x="544914" y="234000"/>
            <a:ext cx="8052166" cy="384175"/>
          </a:xfrm>
          <a:prstGeom prst="rect">
            <a:avLst/>
          </a:prstGeom>
        </p:spPr>
        <p:txBody>
          <a:bodyPr/>
          <a:lstStyle>
            <a:lvl1pPr marL="0" indent="0" algn="l">
              <a:buNone/>
              <a:defRPr>
                <a:latin typeface="Be Vietnam"/>
              </a:defRPr>
            </a:lvl1pPr>
          </a:lstStyle>
          <a:p>
            <a:pPr lvl="0">
              <a:defRPr/>
            </a:pPr>
            <a:r>
              <a:rPr lang="de-DE"/>
              <a:t>Titel der Unterrichtseinheit</a:t>
            </a:r>
            <a:endParaRPr/>
          </a:p>
        </p:txBody>
      </p:sp>
      <p:sp>
        <p:nvSpPr>
          <p:cNvPr id="9" name="Rechteck 8"/>
          <p:cNvSpPr/>
          <p:nvPr userDrawn="1"/>
        </p:nvSpPr>
        <p:spPr bwMode="auto">
          <a:xfrm>
            <a:off x="767557" y="810568"/>
            <a:ext cx="932400" cy="450965"/>
          </a:xfrm>
          <a:prstGeom prst="rect">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10" name="Bildplatzhalter 5"/>
          <p:cNvSpPr>
            <a:spLocks noGrp="1"/>
          </p:cNvSpPr>
          <p:nvPr>
            <p:ph type="pic" sz="quarter" idx="10" hasCustomPrompt="1"/>
          </p:nvPr>
        </p:nvSpPr>
        <p:spPr bwMode="auto">
          <a:xfrm>
            <a:off x="552310" y="810568"/>
            <a:ext cx="681448" cy="450965"/>
          </a:xfrm>
          <a:prstGeom prst="rect">
            <a:avLst/>
          </a:prstGeom>
        </p:spPr>
        <p:txBody>
          <a:bodyPr anchor="ctr"/>
          <a:lstStyle>
            <a:lvl1pPr marL="0" indent="0" algn="ctr">
              <a:buNone/>
              <a:defRPr sz="1200">
                <a:latin typeface="Be Vietnam"/>
              </a:defRPr>
            </a:lvl1pPr>
          </a:lstStyle>
          <a:p>
            <a:pPr>
              <a:defRPr/>
            </a:pPr>
            <a:r>
              <a:rPr lang="de-DE"/>
              <a:t>Icon</a:t>
            </a:r>
            <a:endParaRPr/>
          </a:p>
        </p:txBody>
      </p:sp>
      <p:sp>
        <p:nvSpPr>
          <p:cNvPr id="11" name="Textplatzhalter 23"/>
          <p:cNvSpPr>
            <a:spLocks noGrp="1"/>
          </p:cNvSpPr>
          <p:nvPr>
            <p:ph type="body" sz="quarter" idx="15" hasCustomPrompt="1"/>
          </p:nvPr>
        </p:nvSpPr>
        <p:spPr bwMode="auto">
          <a:xfrm>
            <a:off x="1697342" y="810568"/>
            <a:ext cx="6899738" cy="450965"/>
          </a:xfrm>
          <a:prstGeom prst="rect">
            <a:avLst/>
          </a:prstGeom>
          <a:ln w="28575">
            <a:solidFill>
              <a:srgbClr val="F2F2F2"/>
            </a:solidFill>
          </a:ln>
        </p:spPr>
        <p:txBody>
          <a:bodyPr lIns="144000" tIns="90000" bIns="36000" anchor="ctr">
            <a:normAutofit/>
          </a:bodyPr>
          <a:lstStyle>
            <a:lvl1pPr>
              <a:defRPr sz="1800">
                <a:latin typeface="Be Vietnam"/>
              </a:defRPr>
            </a:lvl1pPr>
            <a:lvl2pPr>
              <a:defRPr sz="1400"/>
            </a:lvl2pPr>
            <a:lvl3pPr>
              <a:defRPr sz="1200"/>
            </a:lvl3pPr>
            <a:lvl4pPr marL="1210299" indent="0">
              <a:buNone/>
              <a:defRPr sz="1000"/>
            </a:lvl4pPr>
            <a:lvl5pPr>
              <a:defRPr sz="800"/>
            </a:lvl5pPr>
          </a:lstStyle>
          <a:p>
            <a:pPr lvl="0">
              <a:defRPr/>
            </a:pPr>
            <a:r>
              <a:rPr lang="de-DE"/>
              <a:t>Sequenztitel</a:t>
            </a:r>
            <a:endParaRPr/>
          </a:p>
        </p:txBody>
      </p:sp>
      <p:sp>
        <p:nvSpPr>
          <p:cNvPr id="12" name="Textplatzhalter 30"/>
          <p:cNvSpPr>
            <a:spLocks noGrp="1"/>
          </p:cNvSpPr>
          <p:nvPr>
            <p:ph type="body" sz="quarter" idx="20" hasCustomPrompt="1"/>
          </p:nvPr>
        </p:nvSpPr>
        <p:spPr bwMode="auto">
          <a:xfrm>
            <a:off x="1234404" y="810568"/>
            <a:ext cx="465553" cy="450965"/>
          </a:xfrm>
          <a:prstGeom prst="rect">
            <a:avLst/>
          </a:prstGeom>
        </p:spPr>
        <p:txBody>
          <a:bodyPr lIns="36000" tIns="90000" rIns="36000" bIns="36000" anchor="ctr" anchorCtr="0">
            <a:normAutofit/>
          </a:bodyPr>
          <a:lstStyle>
            <a:lvl1pPr marL="0" indent="0" algn="ctr">
              <a:buNone/>
              <a:defRPr sz="2800">
                <a:latin typeface="Be Vietnam"/>
              </a:defRPr>
            </a:lvl1pPr>
          </a:lstStyle>
          <a:p>
            <a:pPr lvl="0">
              <a:defRPr/>
            </a:pPr>
            <a:r>
              <a:rPr lang="de-DE"/>
              <a:t>#</a:t>
            </a:r>
            <a:endParaRPr/>
          </a:p>
        </p:txBody>
      </p:sp>
      <p:sp>
        <p:nvSpPr>
          <p:cNvPr id="16" name="Rechteck 15"/>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
        <p:nvSpPr>
          <p:cNvPr id="17" name="Oval 3"/>
          <p:cNvSpPr/>
          <p:nvPr userDrawn="1"/>
        </p:nvSpPr>
        <p:spPr bwMode="auto">
          <a:xfrm>
            <a:off x="552309" y="1448636"/>
            <a:ext cx="685459" cy="450965"/>
          </a:xfrm>
          <a:prstGeom prst="ellipse">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18" name="Rechteck 17"/>
          <p:cNvSpPr/>
          <p:nvPr userDrawn="1"/>
        </p:nvSpPr>
        <p:spPr bwMode="auto">
          <a:xfrm>
            <a:off x="767557" y="1448636"/>
            <a:ext cx="932400" cy="450965"/>
          </a:xfrm>
          <a:prstGeom prst="rect">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19" name="Bildplatzhalter 5"/>
          <p:cNvSpPr>
            <a:spLocks noGrp="1"/>
          </p:cNvSpPr>
          <p:nvPr>
            <p:ph type="pic" sz="quarter" idx="21" hasCustomPrompt="1"/>
          </p:nvPr>
        </p:nvSpPr>
        <p:spPr bwMode="auto">
          <a:xfrm>
            <a:off x="552310" y="1448636"/>
            <a:ext cx="681448" cy="450965"/>
          </a:xfrm>
          <a:prstGeom prst="rect">
            <a:avLst/>
          </a:prstGeom>
        </p:spPr>
        <p:txBody>
          <a:bodyPr anchor="ctr"/>
          <a:lstStyle>
            <a:lvl1pPr marL="0" indent="0" algn="ctr">
              <a:buNone/>
              <a:defRPr sz="1200">
                <a:latin typeface="Be Vietnam"/>
              </a:defRPr>
            </a:lvl1pPr>
          </a:lstStyle>
          <a:p>
            <a:pPr>
              <a:defRPr/>
            </a:pPr>
            <a:r>
              <a:rPr lang="de-DE"/>
              <a:t>Icon</a:t>
            </a:r>
            <a:endParaRPr/>
          </a:p>
        </p:txBody>
      </p:sp>
      <p:sp>
        <p:nvSpPr>
          <p:cNvPr id="20" name="Textplatzhalter 23"/>
          <p:cNvSpPr>
            <a:spLocks noGrp="1"/>
          </p:cNvSpPr>
          <p:nvPr>
            <p:ph type="body" sz="quarter" idx="22" hasCustomPrompt="1"/>
          </p:nvPr>
        </p:nvSpPr>
        <p:spPr bwMode="auto">
          <a:xfrm>
            <a:off x="1697342" y="1448636"/>
            <a:ext cx="6899738" cy="450965"/>
          </a:xfrm>
          <a:prstGeom prst="rect">
            <a:avLst/>
          </a:prstGeom>
          <a:ln w="28575">
            <a:solidFill>
              <a:srgbClr val="F2F2F2"/>
            </a:solidFill>
          </a:ln>
        </p:spPr>
        <p:txBody>
          <a:bodyPr lIns="144000" tIns="90000" bIns="36000" anchor="ctr">
            <a:normAutofit/>
          </a:bodyPr>
          <a:lstStyle>
            <a:lvl1pPr>
              <a:defRPr sz="1800">
                <a:latin typeface="Be Vietnam"/>
              </a:defRPr>
            </a:lvl1pPr>
            <a:lvl2pPr>
              <a:defRPr sz="1400"/>
            </a:lvl2pPr>
            <a:lvl3pPr>
              <a:defRPr sz="1200"/>
            </a:lvl3pPr>
            <a:lvl4pPr marL="1210299" indent="0">
              <a:buNone/>
              <a:defRPr sz="1000"/>
            </a:lvl4pPr>
            <a:lvl5pPr>
              <a:defRPr sz="800"/>
            </a:lvl5pPr>
          </a:lstStyle>
          <a:p>
            <a:pPr lvl="0">
              <a:defRPr/>
            </a:pPr>
            <a:r>
              <a:rPr lang="de-DE"/>
              <a:t>Sequenztitel</a:t>
            </a:r>
            <a:endParaRPr/>
          </a:p>
        </p:txBody>
      </p:sp>
      <p:sp>
        <p:nvSpPr>
          <p:cNvPr id="21" name="Textplatzhalter 30"/>
          <p:cNvSpPr>
            <a:spLocks noGrp="1"/>
          </p:cNvSpPr>
          <p:nvPr>
            <p:ph type="body" sz="quarter" idx="23" hasCustomPrompt="1"/>
          </p:nvPr>
        </p:nvSpPr>
        <p:spPr bwMode="auto">
          <a:xfrm>
            <a:off x="1234404" y="1448636"/>
            <a:ext cx="465553" cy="450965"/>
          </a:xfrm>
          <a:prstGeom prst="rect">
            <a:avLst/>
          </a:prstGeom>
        </p:spPr>
        <p:txBody>
          <a:bodyPr lIns="36000" tIns="90000" rIns="36000" bIns="36000" anchor="ctr" anchorCtr="0">
            <a:normAutofit/>
          </a:bodyPr>
          <a:lstStyle>
            <a:lvl1pPr marL="0" indent="0" algn="ctr">
              <a:buNone/>
              <a:defRPr sz="2800">
                <a:latin typeface="Be Vietnam"/>
              </a:defRPr>
            </a:lvl1pPr>
          </a:lstStyle>
          <a:p>
            <a:pPr lvl="0">
              <a:defRPr/>
            </a:pPr>
            <a:r>
              <a:rPr lang="de-DE"/>
              <a:t>#</a:t>
            </a:r>
            <a:endParaRPr/>
          </a:p>
        </p:txBody>
      </p:sp>
      <p:sp>
        <p:nvSpPr>
          <p:cNvPr id="22" name="Oval 3"/>
          <p:cNvSpPr/>
          <p:nvPr userDrawn="1"/>
        </p:nvSpPr>
        <p:spPr bwMode="auto">
          <a:xfrm>
            <a:off x="552309" y="2086704"/>
            <a:ext cx="685459" cy="450965"/>
          </a:xfrm>
          <a:prstGeom prst="ellipse">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23" name="Rechteck 22"/>
          <p:cNvSpPr/>
          <p:nvPr userDrawn="1"/>
        </p:nvSpPr>
        <p:spPr bwMode="auto">
          <a:xfrm>
            <a:off x="767557" y="2086704"/>
            <a:ext cx="932400" cy="450965"/>
          </a:xfrm>
          <a:prstGeom prst="rect">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24" name="Bildplatzhalter 5"/>
          <p:cNvSpPr>
            <a:spLocks noGrp="1"/>
          </p:cNvSpPr>
          <p:nvPr>
            <p:ph type="pic" sz="quarter" idx="24" hasCustomPrompt="1"/>
          </p:nvPr>
        </p:nvSpPr>
        <p:spPr bwMode="auto">
          <a:xfrm>
            <a:off x="552310" y="2086704"/>
            <a:ext cx="681448" cy="450965"/>
          </a:xfrm>
          <a:prstGeom prst="rect">
            <a:avLst/>
          </a:prstGeom>
        </p:spPr>
        <p:txBody>
          <a:bodyPr anchor="ctr"/>
          <a:lstStyle>
            <a:lvl1pPr marL="0" indent="0" algn="ctr">
              <a:buNone/>
              <a:defRPr sz="1200">
                <a:latin typeface="Be Vietnam"/>
              </a:defRPr>
            </a:lvl1pPr>
          </a:lstStyle>
          <a:p>
            <a:pPr>
              <a:defRPr/>
            </a:pPr>
            <a:r>
              <a:rPr lang="de-DE"/>
              <a:t>Icon</a:t>
            </a:r>
            <a:endParaRPr/>
          </a:p>
        </p:txBody>
      </p:sp>
      <p:sp>
        <p:nvSpPr>
          <p:cNvPr id="25" name="Textplatzhalter 23"/>
          <p:cNvSpPr>
            <a:spLocks noGrp="1"/>
          </p:cNvSpPr>
          <p:nvPr>
            <p:ph type="body" sz="quarter" idx="25" hasCustomPrompt="1"/>
          </p:nvPr>
        </p:nvSpPr>
        <p:spPr bwMode="auto">
          <a:xfrm>
            <a:off x="1697342" y="2086704"/>
            <a:ext cx="6899738" cy="450965"/>
          </a:xfrm>
          <a:prstGeom prst="rect">
            <a:avLst/>
          </a:prstGeom>
          <a:ln w="28575">
            <a:solidFill>
              <a:srgbClr val="F2F2F2"/>
            </a:solidFill>
          </a:ln>
        </p:spPr>
        <p:txBody>
          <a:bodyPr lIns="144000" tIns="90000" bIns="36000" anchor="ctr">
            <a:normAutofit/>
          </a:bodyPr>
          <a:lstStyle>
            <a:lvl1pPr>
              <a:defRPr sz="1800">
                <a:latin typeface="Be Vietnam"/>
              </a:defRPr>
            </a:lvl1pPr>
            <a:lvl2pPr>
              <a:defRPr sz="1400"/>
            </a:lvl2pPr>
            <a:lvl3pPr>
              <a:defRPr sz="1200"/>
            </a:lvl3pPr>
            <a:lvl4pPr marL="1210299" indent="0">
              <a:buNone/>
              <a:defRPr sz="1000"/>
            </a:lvl4pPr>
            <a:lvl5pPr>
              <a:defRPr sz="800"/>
            </a:lvl5pPr>
          </a:lstStyle>
          <a:p>
            <a:pPr lvl="0">
              <a:defRPr/>
            </a:pPr>
            <a:r>
              <a:rPr lang="de-DE"/>
              <a:t>Sequenztitel</a:t>
            </a:r>
            <a:endParaRPr/>
          </a:p>
        </p:txBody>
      </p:sp>
      <p:sp>
        <p:nvSpPr>
          <p:cNvPr id="26" name="Textplatzhalter 30"/>
          <p:cNvSpPr>
            <a:spLocks noGrp="1"/>
          </p:cNvSpPr>
          <p:nvPr>
            <p:ph type="body" sz="quarter" idx="26" hasCustomPrompt="1"/>
          </p:nvPr>
        </p:nvSpPr>
        <p:spPr bwMode="auto">
          <a:xfrm>
            <a:off x="1234404" y="2086704"/>
            <a:ext cx="465553" cy="450965"/>
          </a:xfrm>
          <a:prstGeom prst="rect">
            <a:avLst/>
          </a:prstGeom>
        </p:spPr>
        <p:txBody>
          <a:bodyPr lIns="36000" tIns="90000" rIns="36000" bIns="36000" anchor="ctr" anchorCtr="0">
            <a:normAutofit/>
          </a:bodyPr>
          <a:lstStyle>
            <a:lvl1pPr marL="0" indent="0" algn="ctr">
              <a:buNone/>
              <a:defRPr sz="2800">
                <a:latin typeface="Be Vietnam"/>
              </a:defRPr>
            </a:lvl1pPr>
          </a:lstStyle>
          <a:p>
            <a:pPr lvl="0">
              <a:defRPr/>
            </a:pPr>
            <a:r>
              <a:rPr lang="de-DE"/>
              <a:t>#</a:t>
            </a:r>
            <a:endParaRPr/>
          </a:p>
        </p:txBody>
      </p:sp>
      <p:sp>
        <p:nvSpPr>
          <p:cNvPr id="27" name="Oval 3"/>
          <p:cNvSpPr/>
          <p:nvPr userDrawn="1"/>
        </p:nvSpPr>
        <p:spPr bwMode="auto">
          <a:xfrm>
            <a:off x="552309" y="2724772"/>
            <a:ext cx="685459" cy="450965"/>
          </a:xfrm>
          <a:prstGeom prst="ellipse">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28" name="Rechteck 27"/>
          <p:cNvSpPr/>
          <p:nvPr userDrawn="1"/>
        </p:nvSpPr>
        <p:spPr bwMode="auto">
          <a:xfrm>
            <a:off x="767557" y="2724772"/>
            <a:ext cx="932400" cy="450965"/>
          </a:xfrm>
          <a:prstGeom prst="rect">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29" name="Bildplatzhalter 5"/>
          <p:cNvSpPr>
            <a:spLocks noGrp="1"/>
          </p:cNvSpPr>
          <p:nvPr>
            <p:ph type="pic" sz="quarter" idx="27" hasCustomPrompt="1"/>
          </p:nvPr>
        </p:nvSpPr>
        <p:spPr bwMode="auto">
          <a:xfrm>
            <a:off x="552310" y="2724772"/>
            <a:ext cx="681448" cy="450965"/>
          </a:xfrm>
          <a:prstGeom prst="rect">
            <a:avLst/>
          </a:prstGeom>
        </p:spPr>
        <p:txBody>
          <a:bodyPr anchor="ctr"/>
          <a:lstStyle>
            <a:lvl1pPr marL="0" indent="0" algn="ctr">
              <a:buNone/>
              <a:defRPr sz="1200">
                <a:latin typeface="Be Vietnam"/>
              </a:defRPr>
            </a:lvl1pPr>
          </a:lstStyle>
          <a:p>
            <a:pPr>
              <a:defRPr/>
            </a:pPr>
            <a:r>
              <a:rPr lang="de-DE"/>
              <a:t>Icon</a:t>
            </a:r>
            <a:endParaRPr/>
          </a:p>
        </p:txBody>
      </p:sp>
      <p:sp>
        <p:nvSpPr>
          <p:cNvPr id="30" name="Textplatzhalter 23"/>
          <p:cNvSpPr>
            <a:spLocks noGrp="1"/>
          </p:cNvSpPr>
          <p:nvPr>
            <p:ph type="body" sz="quarter" idx="28" hasCustomPrompt="1"/>
          </p:nvPr>
        </p:nvSpPr>
        <p:spPr bwMode="auto">
          <a:xfrm>
            <a:off x="1697342" y="2724772"/>
            <a:ext cx="6899738" cy="450965"/>
          </a:xfrm>
          <a:prstGeom prst="rect">
            <a:avLst/>
          </a:prstGeom>
          <a:ln w="28575">
            <a:solidFill>
              <a:srgbClr val="F2F2F2"/>
            </a:solidFill>
          </a:ln>
        </p:spPr>
        <p:txBody>
          <a:bodyPr lIns="144000" tIns="90000" bIns="36000" anchor="ctr">
            <a:normAutofit/>
          </a:bodyPr>
          <a:lstStyle>
            <a:lvl1pPr>
              <a:defRPr sz="1800">
                <a:latin typeface="Be Vietnam"/>
              </a:defRPr>
            </a:lvl1pPr>
            <a:lvl2pPr>
              <a:defRPr sz="1400"/>
            </a:lvl2pPr>
            <a:lvl3pPr>
              <a:defRPr sz="1200"/>
            </a:lvl3pPr>
            <a:lvl4pPr marL="1210299" indent="0">
              <a:buNone/>
              <a:defRPr sz="1000"/>
            </a:lvl4pPr>
            <a:lvl5pPr>
              <a:defRPr sz="800"/>
            </a:lvl5pPr>
          </a:lstStyle>
          <a:p>
            <a:pPr lvl="0">
              <a:defRPr/>
            </a:pPr>
            <a:r>
              <a:rPr lang="de-DE"/>
              <a:t>Sequenztitel</a:t>
            </a:r>
            <a:endParaRPr/>
          </a:p>
        </p:txBody>
      </p:sp>
      <p:sp>
        <p:nvSpPr>
          <p:cNvPr id="31" name="Textplatzhalter 30"/>
          <p:cNvSpPr>
            <a:spLocks noGrp="1"/>
          </p:cNvSpPr>
          <p:nvPr>
            <p:ph type="body" sz="quarter" idx="29" hasCustomPrompt="1"/>
          </p:nvPr>
        </p:nvSpPr>
        <p:spPr bwMode="auto">
          <a:xfrm>
            <a:off x="1234404" y="2724772"/>
            <a:ext cx="465553" cy="450965"/>
          </a:xfrm>
          <a:prstGeom prst="rect">
            <a:avLst/>
          </a:prstGeom>
        </p:spPr>
        <p:txBody>
          <a:bodyPr lIns="36000" tIns="90000" rIns="36000" bIns="36000" anchor="ctr" anchorCtr="0">
            <a:normAutofit/>
          </a:bodyPr>
          <a:lstStyle>
            <a:lvl1pPr marL="0" indent="0" algn="ctr">
              <a:buNone/>
              <a:defRPr sz="2800">
                <a:latin typeface="Be Vietnam"/>
              </a:defRPr>
            </a:lvl1pPr>
          </a:lstStyle>
          <a:p>
            <a:pPr lvl="0">
              <a:defRPr/>
            </a:pPr>
            <a:r>
              <a:rPr lang="de-DE"/>
              <a:t>#</a:t>
            </a:r>
            <a:endParaRPr/>
          </a:p>
        </p:txBody>
      </p:sp>
      <p:sp>
        <p:nvSpPr>
          <p:cNvPr id="32" name="Oval 3"/>
          <p:cNvSpPr/>
          <p:nvPr userDrawn="1"/>
        </p:nvSpPr>
        <p:spPr bwMode="auto">
          <a:xfrm>
            <a:off x="552309" y="3362840"/>
            <a:ext cx="685459" cy="450965"/>
          </a:xfrm>
          <a:prstGeom prst="ellipse">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33" name="Rechteck 32"/>
          <p:cNvSpPr/>
          <p:nvPr userDrawn="1"/>
        </p:nvSpPr>
        <p:spPr bwMode="auto">
          <a:xfrm>
            <a:off x="767557" y="3362840"/>
            <a:ext cx="932400" cy="450965"/>
          </a:xfrm>
          <a:prstGeom prst="rect">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34" name="Bildplatzhalter 5"/>
          <p:cNvSpPr>
            <a:spLocks noGrp="1"/>
          </p:cNvSpPr>
          <p:nvPr>
            <p:ph type="pic" sz="quarter" idx="30" hasCustomPrompt="1"/>
          </p:nvPr>
        </p:nvSpPr>
        <p:spPr bwMode="auto">
          <a:xfrm>
            <a:off x="552310" y="3362840"/>
            <a:ext cx="681448" cy="450965"/>
          </a:xfrm>
          <a:prstGeom prst="rect">
            <a:avLst/>
          </a:prstGeom>
        </p:spPr>
        <p:txBody>
          <a:bodyPr anchor="ctr"/>
          <a:lstStyle>
            <a:lvl1pPr marL="0" indent="0" algn="ctr">
              <a:buNone/>
              <a:defRPr sz="1200">
                <a:latin typeface="Be Vietnam"/>
              </a:defRPr>
            </a:lvl1pPr>
          </a:lstStyle>
          <a:p>
            <a:pPr>
              <a:defRPr/>
            </a:pPr>
            <a:r>
              <a:rPr lang="de-DE"/>
              <a:t>Icon</a:t>
            </a:r>
            <a:endParaRPr/>
          </a:p>
        </p:txBody>
      </p:sp>
      <p:sp>
        <p:nvSpPr>
          <p:cNvPr id="35" name="Textplatzhalter 23"/>
          <p:cNvSpPr>
            <a:spLocks noGrp="1"/>
          </p:cNvSpPr>
          <p:nvPr>
            <p:ph type="body" sz="quarter" idx="31" hasCustomPrompt="1"/>
          </p:nvPr>
        </p:nvSpPr>
        <p:spPr bwMode="auto">
          <a:xfrm>
            <a:off x="1697342" y="3362840"/>
            <a:ext cx="6899738" cy="450965"/>
          </a:xfrm>
          <a:prstGeom prst="rect">
            <a:avLst/>
          </a:prstGeom>
          <a:ln w="28575">
            <a:solidFill>
              <a:srgbClr val="F2F2F2"/>
            </a:solidFill>
          </a:ln>
        </p:spPr>
        <p:txBody>
          <a:bodyPr lIns="144000" tIns="90000" bIns="36000" anchor="ctr">
            <a:normAutofit/>
          </a:bodyPr>
          <a:lstStyle>
            <a:lvl1pPr>
              <a:defRPr sz="1800">
                <a:latin typeface="Be Vietnam"/>
              </a:defRPr>
            </a:lvl1pPr>
            <a:lvl2pPr>
              <a:defRPr sz="1400"/>
            </a:lvl2pPr>
            <a:lvl3pPr>
              <a:defRPr sz="1200"/>
            </a:lvl3pPr>
            <a:lvl4pPr marL="1210299" indent="0">
              <a:buNone/>
              <a:defRPr sz="1000"/>
            </a:lvl4pPr>
            <a:lvl5pPr>
              <a:defRPr sz="800"/>
            </a:lvl5pPr>
          </a:lstStyle>
          <a:p>
            <a:pPr lvl="0">
              <a:defRPr/>
            </a:pPr>
            <a:r>
              <a:rPr lang="de-DE"/>
              <a:t>Sequenztitel</a:t>
            </a:r>
            <a:endParaRPr/>
          </a:p>
        </p:txBody>
      </p:sp>
      <p:sp>
        <p:nvSpPr>
          <p:cNvPr id="36" name="Textplatzhalter 30"/>
          <p:cNvSpPr>
            <a:spLocks noGrp="1"/>
          </p:cNvSpPr>
          <p:nvPr>
            <p:ph type="body" sz="quarter" idx="32" hasCustomPrompt="1"/>
          </p:nvPr>
        </p:nvSpPr>
        <p:spPr bwMode="auto">
          <a:xfrm>
            <a:off x="1234404" y="3362840"/>
            <a:ext cx="465553" cy="450965"/>
          </a:xfrm>
          <a:prstGeom prst="rect">
            <a:avLst/>
          </a:prstGeom>
        </p:spPr>
        <p:txBody>
          <a:bodyPr lIns="36000" tIns="90000" rIns="36000" bIns="36000" anchor="ctr" anchorCtr="0">
            <a:normAutofit/>
          </a:bodyPr>
          <a:lstStyle>
            <a:lvl1pPr marL="0" indent="0" algn="ctr">
              <a:buNone/>
              <a:defRPr sz="2800">
                <a:latin typeface="Be Vietnam"/>
              </a:defRPr>
            </a:lvl1pPr>
          </a:lstStyle>
          <a:p>
            <a:pPr lvl="0">
              <a:defRPr/>
            </a:pPr>
            <a:r>
              <a:rPr lang="de-DE"/>
              <a:t>#</a:t>
            </a:r>
            <a:endParaRPr/>
          </a:p>
        </p:txBody>
      </p:sp>
      <p:sp>
        <p:nvSpPr>
          <p:cNvPr id="37" name="Oval 3"/>
          <p:cNvSpPr/>
          <p:nvPr userDrawn="1"/>
        </p:nvSpPr>
        <p:spPr bwMode="auto">
          <a:xfrm>
            <a:off x="552309" y="4000908"/>
            <a:ext cx="685459" cy="450965"/>
          </a:xfrm>
          <a:prstGeom prst="ellipse">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38" name="Rechteck 37"/>
          <p:cNvSpPr/>
          <p:nvPr userDrawn="1"/>
        </p:nvSpPr>
        <p:spPr bwMode="auto">
          <a:xfrm>
            <a:off x="767557" y="4000908"/>
            <a:ext cx="932400" cy="450965"/>
          </a:xfrm>
          <a:prstGeom prst="rect">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39" name="Bildplatzhalter 5"/>
          <p:cNvSpPr>
            <a:spLocks noGrp="1"/>
          </p:cNvSpPr>
          <p:nvPr>
            <p:ph type="pic" sz="quarter" idx="33" hasCustomPrompt="1"/>
          </p:nvPr>
        </p:nvSpPr>
        <p:spPr bwMode="auto">
          <a:xfrm>
            <a:off x="552310" y="4000908"/>
            <a:ext cx="681448" cy="450965"/>
          </a:xfrm>
          <a:prstGeom prst="rect">
            <a:avLst/>
          </a:prstGeom>
        </p:spPr>
        <p:txBody>
          <a:bodyPr anchor="ctr"/>
          <a:lstStyle>
            <a:lvl1pPr marL="0" indent="0" algn="ctr">
              <a:buNone/>
              <a:defRPr sz="1200">
                <a:latin typeface="Be Vietnam"/>
              </a:defRPr>
            </a:lvl1pPr>
          </a:lstStyle>
          <a:p>
            <a:pPr>
              <a:defRPr/>
            </a:pPr>
            <a:r>
              <a:rPr lang="de-DE"/>
              <a:t>Icon</a:t>
            </a:r>
            <a:endParaRPr/>
          </a:p>
        </p:txBody>
      </p:sp>
      <p:sp>
        <p:nvSpPr>
          <p:cNvPr id="40" name="Textplatzhalter 23"/>
          <p:cNvSpPr>
            <a:spLocks noGrp="1"/>
          </p:cNvSpPr>
          <p:nvPr>
            <p:ph type="body" sz="quarter" idx="34" hasCustomPrompt="1"/>
          </p:nvPr>
        </p:nvSpPr>
        <p:spPr bwMode="auto">
          <a:xfrm>
            <a:off x="1697342" y="4000908"/>
            <a:ext cx="6899738" cy="450965"/>
          </a:xfrm>
          <a:prstGeom prst="rect">
            <a:avLst/>
          </a:prstGeom>
          <a:ln w="28575">
            <a:solidFill>
              <a:srgbClr val="F2F2F2"/>
            </a:solidFill>
          </a:ln>
        </p:spPr>
        <p:txBody>
          <a:bodyPr lIns="144000" tIns="90000" bIns="36000" anchor="ctr">
            <a:normAutofit/>
          </a:bodyPr>
          <a:lstStyle>
            <a:lvl1pPr>
              <a:defRPr sz="1800">
                <a:latin typeface="Be Vietnam"/>
              </a:defRPr>
            </a:lvl1pPr>
            <a:lvl2pPr>
              <a:defRPr sz="1400"/>
            </a:lvl2pPr>
            <a:lvl3pPr>
              <a:defRPr sz="1200"/>
            </a:lvl3pPr>
            <a:lvl4pPr marL="1210299" indent="0">
              <a:buNone/>
              <a:defRPr sz="1000"/>
            </a:lvl4pPr>
            <a:lvl5pPr>
              <a:defRPr sz="800"/>
            </a:lvl5pPr>
          </a:lstStyle>
          <a:p>
            <a:pPr lvl="0">
              <a:defRPr/>
            </a:pPr>
            <a:r>
              <a:rPr lang="de-DE"/>
              <a:t>Sequenztitel</a:t>
            </a:r>
            <a:endParaRPr/>
          </a:p>
        </p:txBody>
      </p:sp>
      <p:sp>
        <p:nvSpPr>
          <p:cNvPr id="41" name="Textplatzhalter 30"/>
          <p:cNvSpPr>
            <a:spLocks noGrp="1"/>
          </p:cNvSpPr>
          <p:nvPr>
            <p:ph type="body" sz="quarter" idx="35" hasCustomPrompt="1"/>
          </p:nvPr>
        </p:nvSpPr>
        <p:spPr bwMode="auto">
          <a:xfrm>
            <a:off x="1234404" y="4000908"/>
            <a:ext cx="465553" cy="450965"/>
          </a:xfrm>
          <a:prstGeom prst="rect">
            <a:avLst/>
          </a:prstGeom>
        </p:spPr>
        <p:txBody>
          <a:bodyPr lIns="36000" tIns="90000" rIns="36000" bIns="36000" anchor="ctr" anchorCtr="0">
            <a:normAutofit/>
          </a:bodyPr>
          <a:lstStyle>
            <a:lvl1pPr marL="0" indent="0" algn="ctr">
              <a:buNone/>
              <a:defRPr sz="2800">
                <a:latin typeface="Be Vietnam"/>
              </a:defRPr>
            </a:lvl1pPr>
          </a:lstStyle>
          <a:p>
            <a:pPr lvl="0">
              <a:defRPr/>
            </a:pPr>
            <a:r>
              <a:rPr lang="de-DE"/>
              <a:t>#</a:t>
            </a:r>
            <a:endParaRPr/>
          </a:p>
        </p:txBody>
      </p:sp>
      <p:sp>
        <p:nvSpPr>
          <p:cNvPr id="42" name="Oval 3"/>
          <p:cNvSpPr/>
          <p:nvPr userDrawn="1"/>
        </p:nvSpPr>
        <p:spPr bwMode="auto">
          <a:xfrm>
            <a:off x="552309" y="4638976"/>
            <a:ext cx="685459" cy="450965"/>
          </a:xfrm>
          <a:prstGeom prst="ellipse">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43" name="Rechteck 42"/>
          <p:cNvSpPr/>
          <p:nvPr userDrawn="1"/>
        </p:nvSpPr>
        <p:spPr bwMode="auto">
          <a:xfrm>
            <a:off x="767557" y="4638976"/>
            <a:ext cx="932400" cy="450965"/>
          </a:xfrm>
          <a:prstGeom prst="rect">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44" name="Bildplatzhalter 5"/>
          <p:cNvSpPr>
            <a:spLocks noGrp="1"/>
          </p:cNvSpPr>
          <p:nvPr>
            <p:ph type="pic" sz="quarter" idx="36" hasCustomPrompt="1"/>
          </p:nvPr>
        </p:nvSpPr>
        <p:spPr bwMode="auto">
          <a:xfrm>
            <a:off x="552310" y="4638976"/>
            <a:ext cx="681448" cy="450965"/>
          </a:xfrm>
          <a:prstGeom prst="rect">
            <a:avLst/>
          </a:prstGeom>
        </p:spPr>
        <p:txBody>
          <a:bodyPr anchor="ctr"/>
          <a:lstStyle>
            <a:lvl1pPr marL="0" indent="0" algn="ctr">
              <a:buNone/>
              <a:defRPr sz="1200">
                <a:latin typeface="Be Vietnam"/>
              </a:defRPr>
            </a:lvl1pPr>
          </a:lstStyle>
          <a:p>
            <a:pPr>
              <a:defRPr/>
            </a:pPr>
            <a:r>
              <a:rPr lang="de-DE"/>
              <a:t>Icon</a:t>
            </a:r>
            <a:endParaRPr/>
          </a:p>
        </p:txBody>
      </p:sp>
      <p:sp>
        <p:nvSpPr>
          <p:cNvPr id="45" name="Textplatzhalter 23"/>
          <p:cNvSpPr>
            <a:spLocks noGrp="1"/>
          </p:cNvSpPr>
          <p:nvPr>
            <p:ph type="body" sz="quarter" idx="37" hasCustomPrompt="1"/>
          </p:nvPr>
        </p:nvSpPr>
        <p:spPr bwMode="auto">
          <a:xfrm>
            <a:off x="1697342" y="4638976"/>
            <a:ext cx="6899738" cy="450965"/>
          </a:xfrm>
          <a:prstGeom prst="rect">
            <a:avLst/>
          </a:prstGeom>
          <a:ln w="28575">
            <a:solidFill>
              <a:srgbClr val="F2F2F2"/>
            </a:solidFill>
          </a:ln>
        </p:spPr>
        <p:txBody>
          <a:bodyPr lIns="144000" tIns="90000" bIns="36000" anchor="ctr">
            <a:normAutofit/>
          </a:bodyPr>
          <a:lstStyle>
            <a:lvl1pPr>
              <a:defRPr sz="1800">
                <a:latin typeface="Be Vietnam"/>
              </a:defRPr>
            </a:lvl1pPr>
            <a:lvl2pPr>
              <a:defRPr sz="1400"/>
            </a:lvl2pPr>
            <a:lvl3pPr>
              <a:defRPr sz="1200"/>
            </a:lvl3pPr>
            <a:lvl4pPr marL="1210299" indent="0">
              <a:buNone/>
              <a:defRPr sz="1000"/>
            </a:lvl4pPr>
            <a:lvl5pPr>
              <a:defRPr sz="800"/>
            </a:lvl5pPr>
          </a:lstStyle>
          <a:p>
            <a:pPr lvl="0">
              <a:defRPr/>
            </a:pPr>
            <a:r>
              <a:rPr lang="de-DE"/>
              <a:t>Sequenztitel</a:t>
            </a:r>
            <a:endParaRPr/>
          </a:p>
        </p:txBody>
      </p:sp>
      <p:sp>
        <p:nvSpPr>
          <p:cNvPr id="46" name="Textplatzhalter 30"/>
          <p:cNvSpPr>
            <a:spLocks noGrp="1"/>
          </p:cNvSpPr>
          <p:nvPr>
            <p:ph type="body" sz="quarter" idx="38" hasCustomPrompt="1"/>
          </p:nvPr>
        </p:nvSpPr>
        <p:spPr bwMode="auto">
          <a:xfrm>
            <a:off x="1234404" y="4638976"/>
            <a:ext cx="465553" cy="450965"/>
          </a:xfrm>
          <a:prstGeom prst="rect">
            <a:avLst/>
          </a:prstGeom>
        </p:spPr>
        <p:txBody>
          <a:bodyPr lIns="36000" tIns="90000" rIns="36000" bIns="36000" anchor="ctr" anchorCtr="0">
            <a:normAutofit/>
          </a:bodyPr>
          <a:lstStyle>
            <a:lvl1pPr marL="0" indent="0" algn="ctr">
              <a:buNone/>
              <a:defRPr sz="2800">
                <a:latin typeface="Be Vietnam"/>
              </a:defRPr>
            </a:lvl1pPr>
          </a:lstStyle>
          <a:p>
            <a:pPr lvl="0">
              <a:defRPr/>
            </a:pPr>
            <a:r>
              <a:rPr lang="de-DE"/>
              <a:t>#</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offene Aufgabe">
    <p:spTree>
      <p:nvGrpSpPr>
        <p:cNvPr id="1" name=""/>
        <p:cNvGrpSpPr/>
        <p:nvPr/>
      </p:nvGrpSpPr>
      <p:grpSpPr bwMode="auto">
        <a:xfrm>
          <a:off x="0" y="0"/>
          <a:ext cx="0" cy="0"/>
          <a:chOff x="0" y="0"/>
          <a:chExt cx="0" cy="0"/>
        </a:xfrm>
      </p:grpSpPr>
      <p:sp>
        <p:nvSpPr>
          <p:cNvPr id="10"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Aufgabenstellung offene Aufgabe</a:t>
            </a:r>
            <a:endParaRPr/>
          </a:p>
        </p:txBody>
      </p:sp>
      <p:sp>
        <p:nvSpPr>
          <p:cNvPr id="11"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geschlossene Aufgabe">
    <p:spTree>
      <p:nvGrpSpPr>
        <p:cNvPr id="1" name=""/>
        <p:cNvGrpSpPr/>
        <p:nvPr/>
      </p:nvGrpSpPr>
      <p:grpSpPr bwMode="auto">
        <a:xfrm>
          <a:off x="0" y="0"/>
          <a:ext cx="0" cy="0"/>
          <a:chOff x="0" y="0"/>
          <a:chExt cx="0" cy="0"/>
        </a:xfrm>
      </p:grpSpPr>
      <p:sp>
        <p:nvSpPr>
          <p:cNvPr id="10"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Aufgabenstellung geschlossene Aufgabe</a:t>
            </a:r>
            <a:endParaRPr/>
          </a:p>
        </p:txBody>
      </p:sp>
      <p:sp>
        <p:nvSpPr>
          <p:cNvPr id="11"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
        <p:nvSpPr>
          <p:cNvPr id="4" name="Textfeld 3"/>
          <p:cNvSpPr txBox="1"/>
          <p:nvPr userDrawn="1"/>
        </p:nvSpPr>
        <p:spPr bwMode="auto">
          <a:xfrm>
            <a:off x="7537450" y="6049566"/>
            <a:ext cx="1494198" cy="374571"/>
          </a:xfrm>
          <a:prstGeom prst="roundRect">
            <a:avLst>
              <a:gd name="adj" fmla="val 16667"/>
            </a:avLst>
          </a:prstGeom>
          <a:solidFill>
            <a:schemeClr val="tx2"/>
          </a:solidFill>
          <a:ln>
            <a:noFill/>
          </a:ln>
        </p:spPr>
        <p:txBody>
          <a:bodyPr wrap="square" rtlCol="0">
            <a:spAutoFit/>
          </a:bodyPr>
          <a:lstStyle/>
          <a:p>
            <a:pPr algn="ctr">
              <a:defRPr/>
            </a:pPr>
            <a:r>
              <a:rPr lang="de-DE" sz="1600">
                <a:latin typeface="Be Vietnam"/>
              </a:rPr>
              <a:t>Überprüfen</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Individuelles Feedback">
    <p:spTree>
      <p:nvGrpSpPr>
        <p:cNvPr id="1" name=""/>
        <p:cNvGrpSpPr/>
        <p:nvPr/>
      </p:nvGrpSpPr>
      <p:grpSpPr bwMode="auto">
        <a:xfrm>
          <a:off x="0" y="0"/>
          <a:ext cx="0" cy="0"/>
          <a:chOff x="0" y="0"/>
          <a:chExt cx="0" cy="0"/>
        </a:xfrm>
      </p:grpSpPr>
      <p:sp>
        <p:nvSpPr>
          <p:cNvPr id="10"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Aufgabenstellung geschlossene Aufgabe mit Feedbackvarianten</a:t>
            </a:r>
            <a:endParaRPr/>
          </a:p>
        </p:txBody>
      </p:sp>
      <p:sp>
        <p:nvSpPr>
          <p:cNvPr id="11"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
        <p:nvSpPr>
          <p:cNvPr id="4" name="Textfeld 3"/>
          <p:cNvSpPr txBox="1"/>
          <p:nvPr userDrawn="1"/>
        </p:nvSpPr>
        <p:spPr bwMode="auto">
          <a:xfrm>
            <a:off x="7537450" y="6049566"/>
            <a:ext cx="1494198" cy="374571"/>
          </a:xfrm>
          <a:prstGeom prst="roundRect">
            <a:avLst>
              <a:gd name="adj" fmla="val 16667"/>
            </a:avLst>
          </a:prstGeom>
          <a:solidFill>
            <a:schemeClr val="tx2"/>
          </a:solidFill>
          <a:ln>
            <a:noFill/>
          </a:ln>
        </p:spPr>
        <p:txBody>
          <a:bodyPr wrap="square" rtlCol="0">
            <a:spAutoFit/>
          </a:bodyPr>
          <a:lstStyle/>
          <a:p>
            <a:pPr algn="ctr">
              <a:defRPr/>
            </a:pPr>
            <a:r>
              <a:rPr lang="de-DE" sz="1600">
                <a:latin typeface="Be Vietnam"/>
              </a:rPr>
              <a:t>Überprüfen</a:t>
            </a:r>
            <a:endParaRPr/>
          </a:p>
        </p:txBody>
      </p:sp>
      <p:sp>
        <p:nvSpPr>
          <p:cNvPr id="3" name="Textplatzhalter 2"/>
          <p:cNvSpPr>
            <a:spLocks noGrp="1"/>
          </p:cNvSpPr>
          <p:nvPr>
            <p:ph type="body" sz="quarter" idx="31" hasCustomPrompt="1"/>
          </p:nvPr>
        </p:nvSpPr>
        <p:spPr bwMode="auto">
          <a:xfrm>
            <a:off x="180975" y="5954276"/>
            <a:ext cx="6727825" cy="565150"/>
          </a:xfrm>
          <a:prstGeom prst="rect">
            <a:avLst/>
          </a:prstGeom>
          <a:solidFill>
            <a:srgbClr val="FF5050"/>
          </a:solidFill>
        </p:spPr>
        <p:txBody>
          <a:bodyPr/>
          <a:lstStyle>
            <a:lvl1pPr marL="0" indent="0">
              <a:buNone/>
              <a:defRPr sz="1800">
                <a:latin typeface="Be Vietnam"/>
              </a:defRPr>
            </a:lvl1pPr>
          </a:lstStyle>
          <a:p>
            <a:pPr lvl="0">
              <a:defRPr/>
            </a:pPr>
            <a:r>
              <a:rPr lang="de-DE"/>
              <a:t>Spezifische Fehlerrückmeldungen eingeben</a:t>
            </a:r>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Partner-Gabelung">
    <p:spTree>
      <p:nvGrpSpPr>
        <p:cNvPr id="1" name=""/>
        <p:cNvGrpSpPr/>
        <p:nvPr/>
      </p:nvGrpSpPr>
      <p:grpSpPr bwMode="auto">
        <a:xfrm>
          <a:off x="0" y="0"/>
          <a:ext cx="0" cy="0"/>
          <a:chOff x="0" y="0"/>
          <a:chExt cx="0" cy="0"/>
        </a:xfrm>
      </p:grpSpPr>
      <p:sp>
        <p:nvSpPr>
          <p:cNvPr id="10"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Gabelung Partnerarbeit</a:t>
            </a:r>
            <a:endParaRPr/>
          </a:p>
        </p:txBody>
      </p:sp>
      <p:sp>
        <p:nvSpPr>
          <p:cNvPr id="11"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
        <p:nvSpPr>
          <p:cNvPr id="5" name="Textplatzhalter 4"/>
          <p:cNvSpPr>
            <a:spLocks noGrp="1"/>
          </p:cNvSpPr>
          <p:nvPr>
            <p:ph type="body" sz="quarter" idx="34" hasCustomPrompt="1"/>
          </p:nvPr>
        </p:nvSpPr>
        <p:spPr bwMode="auto">
          <a:xfrm>
            <a:off x="2111375" y="2343150"/>
            <a:ext cx="2063750" cy="641350"/>
          </a:xfrm>
          <a:prstGeom prst="rect">
            <a:avLst/>
          </a:prstGeom>
        </p:spPr>
        <p:txBody>
          <a:bodyPr/>
          <a:lstStyle>
            <a:lvl1pPr marL="0" indent="0" algn="ctr">
              <a:buNone/>
              <a:defRPr sz="1800">
                <a:latin typeface="+mj-lt"/>
              </a:defRPr>
            </a:lvl1pPr>
          </a:lstStyle>
          <a:p>
            <a:pPr lvl="0">
              <a:defRPr/>
            </a:pPr>
            <a:r>
              <a:rPr lang="de-DE"/>
              <a:t>Partnerkind 1</a:t>
            </a:r>
            <a:endParaRPr lang="en-GB"/>
          </a:p>
        </p:txBody>
      </p:sp>
      <p:sp>
        <p:nvSpPr>
          <p:cNvPr id="12" name="Textplatzhalter 4"/>
          <p:cNvSpPr>
            <a:spLocks noGrp="1"/>
          </p:cNvSpPr>
          <p:nvPr>
            <p:ph type="body" sz="quarter" idx="35" hasCustomPrompt="1"/>
          </p:nvPr>
        </p:nvSpPr>
        <p:spPr bwMode="auto">
          <a:xfrm>
            <a:off x="4441825" y="2343150"/>
            <a:ext cx="2063750" cy="641350"/>
          </a:xfrm>
          <a:prstGeom prst="rect">
            <a:avLst/>
          </a:prstGeom>
        </p:spPr>
        <p:txBody>
          <a:bodyPr/>
          <a:lstStyle>
            <a:lvl1pPr marL="0" indent="0" algn="ctr">
              <a:buNone/>
              <a:defRPr sz="1800">
                <a:latin typeface="+mj-lt"/>
              </a:defRPr>
            </a:lvl1pPr>
          </a:lstStyle>
          <a:p>
            <a:pPr lvl="0">
              <a:defRPr/>
            </a:pPr>
            <a:r>
              <a:rPr lang="de-DE"/>
              <a:t>Partnerkind 2</a:t>
            </a:r>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Partnerkind1">
    <p:spTree>
      <p:nvGrpSpPr>
        <p:cNvPr id="1" name=""/>
        <p:cNvGrpSpPr/>
        <p:nvPr/>
      </p:nvGrpSpPr>
      <p:grpSpPr bwMode="auto">
        <a:xfrm>
          <a:off x="0" y="0"/>
          <a:ext cx="0" cy="0"/>
          <a:chOff x="0" y="0"/>
          <a:chExt cx="0" cy="0"/>
        </a:xfrm>
      </p:grpSpPr>
      <p:sp>
        <p:nvSpPr>
          <p:cNvPr id="10"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Partnerkind 1</a:t>
            </a:r>
            <a:endParaRPr/>
          </a:p>
        </p:txBody>
      </p:sp>
      <p:sp>
        <p:nvSpPr>
          <p:cNvPr id="11"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
        <p:nvSpPr>
          <p:cNvPr id="2" name="Textfeld 1"/>
          <p:cNvSpPr txBox="1"/>
          <p:nvPr userDrawn="1"/>
        </p:nvSpPr>
        <p:spPr bwMode="auto">
          <a:xfrm>
            <a:off x="7334250" y="41397"/>
            <a:ext cx="1809750" cy="369332"/>
          </a:xfrm>
          <a:prstGeom prst="rect">
            <a:avLst/>
          </a:prstGeom>
          <a:noFill/>
        </p:spPr>
        <p:txBody>
          <a:bodyPr wrap="square" rtlCol="0">
            <a:spAutoFit/>
          </a:bodyPr>
          <a:lstStyle/>
          <a:p>
            <a:pPr>
              <a:defRPr/>
            </a:pPr>
            <a:r>
              <a:rPr lang="de-DE"/>
              <a:t>Partnerkind 1</a:t>
            </a:r>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Partnerkind2">
    <p:spTree>
      <p:nvGrpSpPr>
        <p:cNvPr id="1" name=""/>
        <p:cNvGrpSpPr/>
        <p:nvPr/>
      </p:nvGrpSpPr>
      <p:grpSpPr bwMode="auto">
        <a:xfrm>
          <a:off x="0" y="0"/>
          <a:ext cx="0" cy="0"/>
          <a:chOff x="0" y="0"/>
          <a:chExt cx="0" cy="0"/>
        </a:xfrm>
      </p:grpSpPr>
      <p:sp>
        <p:nvSpPr>
          <p:cNvPr id="10"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Partnerkind 2</a:t>
            </a:r>
            <a:endParaRPr/>
          </a:p>
        </p:txBody>
      </p:sp>
      <p:sp>
        <p:nvSpPr>
          <p:cNvPr id="11"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
        <p:nvSpPr>
          <p:cNvPr id="2" name="Textfeld 1"/>
          <p:cNvSpPr txBox="1"/>
          <p:nvPr userDrawn="1"/>
        </p:nvSpPr>
        <p:spPr bwMode="auto">
          <a:xfrm>
            <a:off x="7334250" y="41397"/>
            <a:ext cx="1809750" cy="369332"/>
          </a:xfrm>
          <a:prstGeom prst="rect">
            <a:avLst/>
          </a:prstGeom>
          <a:noFill/>
        </p:spPr>
        <p:txBody>
          <a:bodyPr wrap="square" rtlCol="0">
            <a:spAutoFit/>
          </a:bodyPr>
          <a:lstStyle/>
          <a:p>
            <a:pPr>
              <a:defRPr/>
            </a:pPr>
            <a:r>
              <a:rPr lang="de-DE"/>
              <a:t>Partnerkind 2</a:t>
            </a:r>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Differenzierungsauswahl">
    <p:spTree>
      <p:nvGrpSpPr>
        <p:cNvPr id="1" name=""/>
        <p:cNvGrpSpPr/>
        <p:nvPr/>
      </p:nvGrpSpPr>
      <p:grpSpPr bwMode="auto">
        <a:xfrm>
          <a:off x="0" y="0"/>
          <a:ext cx="0" cy="0"/>
          <a:chOff x="0" y="0"/>
          <a:chExt cx="0" cy="0"/>
        </a:xfrm>
      </p:grpSpPr>
      <p:sp>
        <p:nvSpPr>
          <p:cNvPr id="10"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Differenzierungsfolie</a:t>
            </a:r>
            <a:endParaRPr/>
          </a:p>
        </p:txBody>
      </p:sp>
      <p:sp>
        <p:nvSpPr>
          <p:cNvPr id="11"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
        <p:nvSpPr>
          <p:cNvPr id="3" name="Bildplatzhalter 2"/>
          <p:cNvSpPr>
            <a:spLocks noGrp="1"/>
          </p:cNvSpPr>
          <p:nvPr>
            <p:ph type="pic" sz="quarter" idx="31" hasCustomPrompt="1"/>
          </p:nvPr>
        </p:nvSpPr>
        <p:spPr bwMode="auto">
          <a:xfrm>
            <a:off x="1136650" y="1543050"/>
            <a:ext cx="1993900" cy="2362199"/>
          </a:xfrm>
          <a:prstGeom prst="rect">
            <a:avLst/>
          </a:prstGeom>
        </p:spPr>
        <p:txBody>
          <a:bodyPr/>
          <a:lstStyle>
            <a:lvl1pPr marL="0" indent="0">
              <a:buNone/>
              <a:defRPr/>
            </a:lvl1pPr>
          </a:lstStyle>
          <a:p>
            <a:pPr>
              <a:defRPr/>
            </a:pPr>
            <a:r>
              <a:rPr lang="de-DE"/>
              <a:t>Basisstufe</a:t>
            </a:r>
            <a:endParaRPr lang="en-GB"/>
          </a:p>
        </p:txBody>
      </p:sp>
      <p:sp>
        <p:nvSpPr>
          <p:cNvPr id="6" name="Bildplatzhalter 2"/>
          <p:cNvSpPr>
            <a:spLocks noGrp="1"/>
          </p:cNvSpPr>
          <p:nvPr>
            <p:ph type="pic" sz="quarter" idx="32" hasCustomPrompt="1"/>
          </p:nvPr>
        </p:nvSpPr>
        <p:spPr bwMode="auto">
          <a:xfrm>
            <a:off x="3467100" y="1543050"/>
            <a:ext cx="1993900" cy="2362199"/>
          </a:xfrm>
          <a:prstGeom prst="rect">
            <a:avLst/>
          </a:prstGeom>
        </p:spPr>
        <p:txBody>
          <a:bodyPr/>
          <a:lstStyle>
            <a:lvl1pPr marL="0" indent="0">
              <a:buNone/>
              <a:defRPr/>
            </a:lvl1pPr>
          </a:lstStyle>
          <a:p>
            <a:pPr>
              <a:defRPr/>
            </a:pPr>
            <a:r>
              <a:rPr lang="de-DE"/>
              <a:t>Regelstufe</a:t>
            </a:r>
            <a:endParaRPr lang="en-GB"/>
          </a:p>
        </p:txBody>
      </p:sp>
      <p:sp>
        <p:nvSpPr>
          <p:cNvPr id="7" name="Bildplatzhalter 2"/>
          <p:cNvSpPr>
            <a:spLocks noGrp="1"/>
          </p:cNvSpPr>
          <p:nvPr>
            <p:ph type="pic" sz="quarter" idx="33" hasCustomPrompt="1"/>
          </p:nvPr>
        </p:nvSpPr>
        <p:spPr bwMode="auto">
          <a:xfrm>
            <a:off x="5797550" y="1543050"/>
            <a:ext cx="1993900" cy="2362199"/>
          </a:xfrm>
          <a:prstGeom prst="rect">
            <a:avLst/>
          </a:prstGeom>
        </p:spPr>
        <p:txBody>
          <a:bodyPr/>
          <a:lstStyle>
            <a:lvl1pPr marL="0" indent="0">
              <a:buNone/>
              <a:defRPr/>
            </a:lvl1pPr>
          </a:lstStyle>
          <a:p>
            <a:pPr>
              <a:defRPr/>
            </a:pPr>
            <a:r>
              <a:rPr lang="de-DE"/>
              <a:t>Erweiterungsstufe</a:t>
            </a:r>
            <a:endParaRPr lang="en-GB"/>
          </a:p>
        </p:txBody>
      </p:sp>
      <p:sp>
        <p:nvSpPr>
          <p:cNvPr id="5" name="Textplatzhalter 4"/>
          <p:cNvSpPr>
            <a:spLocks noGrp="1"/>
          </p:cNvSpPr>
          <p:nvPr>
            <p:ph type="body" sz="quarter" idx="34" hasCustomPrompt="1"/>
          </p:nvPr>
        </p:nvSpPr>
        <p:spPr bwMode="auto">
          <a:xfrm>
            <a:off x="1101725" y="4076699"/>
            <a:ext cx="2063750" cy="641350"/>
          </a:xfrm>
          <a:prstGeom prst="rect">
            <a:avLst/>
          </a:prstGeom>
        </p:spPr>
        <p:txBody>
          <a:bodyPr/>
          <a:lstStyle>
            <a:lvl1pPr marL="0" indent="0" algn="ctr">
              <a:buNone/>
              <a:defRPr sz="1800">
                <a:latin typeface="+mj-lt"/>
              </a:defRPr>
            </a:lvl1pPr>
          </a:lstStyle>
          <a:p>
            <a:pPr lvl="0">
              <a:defRPr/>
            </a:pPr>
            <a:r>
              <a:rPr lang="de-DE"/>
              <a:t>Beschreibung</a:t>
            </a:r>
            <a:endParaRPr lang="en-GB"/>
          </a:p>
        </p:txBody>
      </p:sp>
      <p:sp>
        <p:nvSpPr>
          <p:cNvPr id="12" name="Textplatzhalter 4"/>
          <p:cNvSpPr>
            <a:spLocks noGrp="1"/>
          </p:cNvSpPr>
          <p:nvPr>
            <p:ph type="body" sz="quarter" idx="35" hasCustomPrompt="1"/>
          </p:nvPr>
        </p:nvSpPr>
        <p:spPr bwMode="auto">
          <a:xfrm>
            <a:off x="3432175" y="4076699"/>
            <a:ext cx="2063750" cy="641350"/>
          </a:xfrm>
          <a:prstGeom prst="rect">
            <a:avLst/>
          </a:prstGeom>
        </p:spPr>
        <p:txBody>
          <a:bodyPr/>
          <a:lstStyle>
            <a:lvl1pPr marL="0" indent="0" algn="ctr">
              <a:buNone/>
              <a:defRPr sz="1800">
                <a:latin typeface="+mj-lt"/>
              </a:defRPr>
            </a:lvl1pPr>
          </a:lstStyle>
          <a:p>
            <a:pPr lvl="0">
              <a:defRPr/>
            </a:pPr>
            <a:r>
              <a:rPr lang="de-DE"/>
              <a:t>Beschreibung</a:t>
            </a:r>
            <a:endParaRPr lang="en-GB"/>
          </a:p>
        </p:txBody>
      </p:sp>
      <p:sp>
        <p:nvSpPr>
          <p:cNvPr id="13" name="Textplatzhalter 4"/>
          <p:cNvSpPr>
            <a:spLocks noGrp="1"/>
          </p:cNvSpPr>
          <p:nvPr>
            <p:ph type="body" sz="quarter" idx="36" hasCustomPrompt="1"/>
          </p:nvPr>
        </p:nvSpPr>
        <p:spPr bwMode="auto">
          <a:xfrm>
            <a:off x="5762625" y="4076699"/>
            <a:ext cx="2063750" cy="641350"/>
          </a:xfrm>
          <a:prstGeom prst="rect">
            <a:avLst/>
          </a:prstGeom>
        </p:spPr>
        <p:txBody>
          <a:bodyPr/>
          <a:lstStyle>
            <a:lvl1pPr marL="0" indent="0" algn="ctr">
              <a:buNone/>
              <a:defRPr sz="1800">
                <a:latin typeface="+mj-lt"/>
              </a:defRPr>
            </a:lvl1pPr>
          </a:lstStyle>
          <a:p>
            <a:pPr lvl="0">
              <a:defRPr/>
            </a:pPr>
            <a:r>
              <a:rPr lang="de-DE"/>
              <a:t>Beschreibung</a:t>
            </a:r>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DifferenzierungsauswahlmitRAKETE">
    <p:spTree>
      <p:nvGrpSpPr>
        <p:cNvPr id="1" name=""/>
        <p:cNvGrpSpPr/>
        <p:nvPr/>
      </p:nvGrpSpPr>
      <p:grpSpPr bwMode="auto">
        <a:xfrm>
          <a:off x="0" y="0"/>
          <a:ext cx="0" cy="0"/>
          <a:chOff x="0" y="0"/>
          <a:chExt cx="0" cy="0"/>
        </a:xfrm>
      </p:grpSpPr>
      <p:sp>
        <p:nvSpPr>
          <p:cNvPr id="10"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Differenzierungsfolie mit Rakete</a:t>
            </a:r>
            <a:endParaRPr/>
          </a:p>
        </p:txBody>
      </p:sp>
      <p:sp>
        <p:nvSpPr>
          <p:cNvPr id="11"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
        <p:nvSpPr>
          <p:cNvPr id="3" name="Bildplatzhalter 2"/>
          <p:cNvSpPr>
            <a:spLocks noGrp="1"/>
          </p:cNvSpPr>
          <p:nvPr>
            <p:ph type="pic" sz="quarter" idx="31" hasCustomPrompt="1"/>
          </p:nvPr>
        </p:nvSpPr>
        <p:spPr bwMode="auto">
          <a:xfrm>
            <a:off x="438149" y="1466958"/>
            <a:ext cx="1993900" cy="2362199"/>
          </a:xfrm>
          <a:prstGeom prst="rect">
            <a:avLst/>
          </a:prstGeom>
        </p:spPr>
        <p:txBody>
          <a:bodyPr/>
          <a:lstStyle>
            <a:lvl1pPr marL="0" indent="0">
              <a:buNone/>
              <a:defRPr sz="2000"/>
            </a:lvl1pPr>
          </a:lstStyle>
          <a:p>
            <a:pPr>
              <a:defRPr/>
            </a:pPr>
            <a:r>
              <a:rPr lang="de-DE"/>
              <a:t>Basisstufe</a:t>
            </a:r>
            <a:endParaRPr lang="en-GB"/>
          </a:p>
        </p:txBody>
      </p:sp>
      <p:sp>
        <p:nvSpPr>
          <p:cNvPr id="6" name="Bildplatzhalter 2"/>
          <p:cNvSpPr>
            <a:spLocks noGrp="1"/>
          </p:cNvSpPr>
          <p:nvPr>
            <p:ph type="pic" sz="quarter" idx="32" hasCustomPrompt="1"/>
          </p:nvPr>
        </p:nvSpPr>
        <p:spPr bwMode="auto">
          <a:xfrm>
            <a:off x="2768600" y="1466958"/>
            <a:ext cx="1993900" cy="2362199"/>
          </a:xfrm>
          <a:prstGeom prst="rect">
            <a:avLst/>
          </a:prstGeom>
        </p:spPr>
        <p:txBody>
          <a:bodyPr/>
          <a:lstStyle>
            <a:lvl1pPr marL="0" indent="0">
              <a:buNone/>
              <a:defRPr sz="1800"/>
            </a:lvl1pPr>
          </a:lstStyle>
          <a:p>
            <a:pPr>
              <a:defRPr/>
            </a:pPr>
            <a:r>
              <a:rPr lang="de-DE"/>
              <a:t>Regelstufe</a:t>
            </a:r>
            <a:endParaRPr lang="en-GB"/>
          </a:p>
        </p:txBody>
      </p:sp>
      <p:sp>
        <p:nvSpPr>
          <p:cNvPr id="7" name="Bildplatzhalter 2"/>
          <p:cNvSpPr>
            <a:spLocks noGrp="1"/>
          </p:cNvSpPr>
          <p:nvPr>
            <p:ph type="pic" sz="quarter" idx="33" hasCustomPrompt="1"/>
          </p:nvPr>
        </p:nvSpPr>
        <p:spPr bwMode="auto">
          <a:xfrm>
            <a:off x="5099050" y="1466958"/>
            <a:ext cx="1993900" cy="2362199"/>
          </a:xfrm>
          <a:prstGeom prst="rect">
            <a:avLst/>
          </a:prstGeom>
        </p:spPr>
        <p:txBody>
          <a:bodyPr/>
          <a:lstStyle>
            <a:lvl1pPr marL="0" indent="0">
              <a:buNone/>
              <a:defRPr sz="1400"/>
            </a:lvl1pPr>
          </a:lstStyle>
          <a:p>
            <a:pPr>
              <a:defRPr/>
            </a:pPr>
            <a:r>
              <a:rPr lang="de-DE"/>
              <a:t>Erweiterungsstufe</a:t>
            </a:r>
            <a:endParaRPr lang="en-GB"/>
          </a:p>
        </p:txBody>
      </p:sp>
      <p:sp>
        <p:nvSpPr>
          <p:cNvPr id="5" name="Textplatzhalter 4"/>
          <p:cNvSpPr>
            <a:spLocks noGrp="1"/>
          </p:cNvSpPr>
          <p:nvPr>
            <p:ph type="body" sz="quarter" idx="34" hasCustomPrompt="1"/>
          </p:nvPr>
        </p:nvSpPr>
        <p:spPr bwMode="auto">
          <a:xfrm>
            <a:off x="403225" y="4000608"/>
            <a:ext cx="2063750" cy="641350"/>
          </a:xfrm>
          <a:prstGeom prst="rect">
            <a:avLst/>
          </a:prstGeom>
        </p:spPr>
        <p:txBody>
          <a:bodyPr/>
          <a:lstStyle>
            <a:lvl1pPr marL="0" indent="0" algn="ctr">
              <a:buNone/>
              <a:defRPr sz="1800">
                <a:latin typeface="+mj-lt"/>
              </a:defRPr>
            </a:lvl1pPr>
          </a:lstStyle>
          <a:p>
            <a:pPr lvl="0">
              <a:defRPr/>
            </a:pPr>
            <a:r>
              <a:rPr lang="de-DE"/>
              <a:t>Beschreibung</a:t>
            </a:r>
            <a:endParaRPr lang="en-GB"/>
          </a:p>
        </p:txBody>
      </p:sp>
      <p:sp>
        <p:nvSpPr>
          <p:cNvPr id="12" name="Textplatzhalter 4"/>
          <p:cNvSpPr>
            <a:spLocks noGrp="1"/>
          </p:cNvSpPr>
          <p:nvPr>
            <p:ph type="body" sz="quarter" idx="35" hasCustomPrompt="1"/>
          </p:nvPr>
        </p:nvSpPr>
        <p:spPr bwMode="auto">
          <a:xfrm>
            <a:off x="2733675" y="4000608"/>
            <a:ext cx="2063750" cy="641350"/>
          </a:xfrm>
          <a:prstGeom prst="rect">
            <a:avLst/>
          </a:prstGeom>
        </p:spPr>
        <p:txBody>
          <a:bodyPr/>
          <a:lstStyle>
            <a:lvl1pPr marL="0" indent="0" algn="ctr">
              <a:buNone/>
              <a:defRPr sz="1800">
                <a:latin typeface="+mj-lt"/>
              </a:defRPr>
            </a:lvl1pPr>
          </a:lstStyle>
          <a:p>
            <a:pPr lvl="0">
              <a:defRPr/>
            </a:pPr>
            <a:r>
              <a:rPr lang="de-DE"/>
              <a:t>Beschreibung</a:t>
            </a:r>
            <a:endParaRPr lang="en-GB"/>
          </a:p>
        </p:txBody>
      </p:sp>
      <p:sp>
        <p:nvSpPr>
          <p:cNvPr id="13" name="Textplatzhalter 4"/>
          <p:cNvSpPr>
            <a:spLocks noGrp="1"/>
          </p:cNvSpPr>
          <p:nvPr>
            <p:ph type="body" sz="quarter" idx="36" hasCustomPrompt="1"/>
          </p:nvPr>
        </p:nvSpPr>
        <p:spPr bwMode="auto">
          <a:xfrm>
            <a:off x="5064125" y="4000608"/>
            <a:ext cx="2063750" cy="641350"/>
          </a:xfrm>
          <a:prstGeom prst="rect">
            <a:avLst/>
          </a:prstGeom>
        </p:spPr>
        <p:txBody>
          <a:bodyPr/>
          <a:lstStyle>
            <a:lvl1pPr marL="0" indent="0" algn="ctr">
              <a:buNone/>
              <a:defRPr sz="1800">
                <a:latin typeface="+mj-lt"/>
              </a:defRPr>
            </a:lvl1pPr>
          </a:lstStyle>
          <a:p>
            <a:pPr lvl="0">
              <a:defRPr/>
            </a:pPr>
            <a:r>
              <a:rPr lang="de-DE"/>
              <a:t>Beschreibung</a:t>
            </a:r>
            <a:endParaRPr lang="en-GB"/>
          </a:p>
        </p:txBody>
      </p:sp>
      <p:sp>
        <p:nvSpPr>
          <p:cNvPr id="14" name="Bildplatzhalter 2"/>
          <p:cNvSpPr>
            <a:spLocks noGrp="1"/>
          </p:cNvSpPr>
          <p:nvPr>
            <p:ph type="pic" sz="quarter" idx="37" hasCustomPrompt="1"/>
          </p:nvPr>
        </p:nvSpPr>
        <p:spPr bwMode="auto">
          <a:xfrm>
            <a:off x="7677150" y="1682750"/>
            <a:ext cx="1320800" cy="1714608"/>
          </a:xfrm>
          <a:prstGeom prst="rect">
            <a:avLst/>
          </a:prstGeom>
        </p:spPr>
        <p:txBody>
          <a:bodyPr/>
          <a:lstStyle>
            <a:lvl1pPr marL="0" indent="0">
              <a:buNone/>
              <a:defRPr sz="2000"/>
            </a:lvl1pPr>
          </a:lstStyle>
          <a:p>
            <a:pPr>
              <a:defRPr/>
            </a:pPr>
            <a:r>
              <a:rPr lang="de-DE"/>
              <a:t>Sprinter</a:t>
            </a:r>
            <a:endParaRPr lang="en-GB"/>
          </a:p>
        </p:txBody>
      </p:sp>
      <p:sp>
        <p:nvSpPr>
          <p:cNvPr id="15" name="Textplatzhalter 4"/>
          <p:cNvSpPr>
            <a:spLocks noGrp="1"/>
          </p:cNvSpPr>
          <p:nvPr>
            <p:ph type="body" sz="quarter" idx="38" hasCustomPrompt="1"/>
          </p:nvPr>
        </p:nvSpPr>
        <p:spPr bwMode="auto">
          <a:xfrm>
            <a:off x="7677150" y="3526420"/>
            <a:ext cx="1320800" cy="641350"/>
          </a:xfrm>
          <a:prstGeom prst="rect">
            <a:avLst/>
          </a:prstGeom>
        </p:spPr>
        <p:txBody>
          <a:bodyPr/>
          <a:lstStyle>
            <a:lvl1pPr marL="0" indent="0" algn="ctr">
              <a:buNone/>
              <a:defRPr sz="1200">
                <a:latin typeface="+mj-lt"/>
              </a:defRPr>
            </a:lvl1pPr>
          </a:lstStyle>
          <a:p>
            <a:pPr lvl="0">
              <a:defRPr/>
            </a:pPr>
            <a:r>
              <a:rPr lang="de-DE"/>
              <a:t>Beschreibung</a:t>
            </a:r>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Differenzierungsaufgabe">
    <p:spTree>
      <p:nvGrpSpPr>
        <p:cNvPr id="1" name=""/>
        <p:cNvGrpSpPr/>
        <p:nvPr/>
      </p:nvGrpSpPr>
      <p:grpSpPr bwMode="auto">
        <a:xfrm>
          <a:off x="0" y="0"/>
          <a:ext cx="0" cy="0"/>
          <a:chOff x="0" y="0"/>
          <a:chExt cx="0" cy="0"/>
        </a:xfrm>
      </p:grpSpPr>
      <p:sp>
        <p:nvSpPr>
          <p:cNvPr id="10"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Differenzierungsaufgaben</a:t>
            </a:r>
            <a:endParaRPr/>
          </a:p>
        </p:txBody>
      </p:sp>
      <p:sp>
        <p:nvSpPr>
          <p:cNvPr id="11"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
        <p:nvSpPr>
          <p:cNvPr id="3" name="Bildplatzhalter 2"/>
          <p:cNvSpPr>
            <a:spLocks noGrp="1"/>
          </p:cNvSpPr>
          <p:nvPr>
            <p:ph type="pic" sz="quarter" idx="31" hasCustomPrompt="1"/>
          </p:nvPr>
        </p:nvSpPr>
        <p:spPr bwMode="auto">
          <a:xfrm>
            <a:off x="8172450" y="18948"/>
            <a:ext cx="920750" cy="806342"/>
          </a:xfrm>
          <a:prstGeom prst="rect">
            <a:avLst/>
          </a:prstGeom>
        </p:spPr>
        <p:txBody>
          <a:bodyPr/>
          <a:lstStyle>
            <a:lvl1pPr marL="0" indent="0">
              <a:buNone/>
              <a:defRPr sz="2000"/>
            </a:lvl1pPr>
          </a:lstStyle>
          <a:p>
            <a:pPr>
              <a:defRPr/>
            </a:pPr>
            <a:r>
              <a:rPr lang="de-DE"/>
              <a:t>Stufe</a:t>
            </a:r>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LehrkraftFolie">
    <p:spTree>
      <p:nvGrpSpPr>
        <p:cNvPr id="1" name=""/>
        <p:cNvGrpSpPr/>
        <p:nvPr/>
      </p:nvGrpSpPr>
      <p:grpSpPr bwMode="auto">
        <a:xfrm>
          <a:off x="0" y="0"/>
          <a:ext cx="0" cy="0"/>
          <a:chOff x="0" y="0"/>
          <a:chExt cx="0" cy="0"/>
        </a:xfrm>
      </p:grpSpPr>
      <p:sp>
        <p:nvSpPr>
          <p:cNvPr id="10"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Lehrkraftfolie</a:t>
            </a:r>
            <a:endParaRPr/>
          </a:p>
        </p:txBody>
      </p:sp>
      <p:sp>
        <p:nvSpPr>
          <p:cNvPr id="11"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pic>
        <p:nvPicPr>
          <p:cNvPr id="2" name="Grafik 1"/>
          <p:cNvPicPr>
            <a:picLocks noChangeAspect="1"/>
          </p:cNvPicPr>
          <p:nvPr userDrawn="1"/>
        </p:nvPicPr>
        <p:blipFill>
          <a:blip r:embed="rId2"/>
          <a:stretch/>
        </p:blipFill>
        <p:spPr bwMode="auto">
          <a:xfrm>
            <a:off x="1" y="31513"/>
            <a:ext cx="355600" cy="28870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Reflexionsfrage">
    <p:spTree>
      <p:nvGrpSpPr>
        <p:cNvPr id="1" name=""/>
        <p:cNvGrpSpPr/>
        <p:nvPr/>
      </p:nvGrpSpPr>
      <p:grpSpPr bwMode="auto">
        <a:xfrm>
          <a:off x="0" y="0"/>
          <a:ext cx="0" cy="0"/>
          <a:chOff x="0" y="0"/>
          <a:chExt cx="0" cy="0"/>
        </a:xfrm>
      </p:grpSpPr>
      <p:sp>
        <p:nvSpPr>
          <p:cNvPr id="8" name="Textplatzhalter 4"/>
          <p:cNvSpPr>
            <a:spLocks noGrp="1"/>
          </p:cNvSpPr>
          <p:nvPr>
            <p:ph type="body" sz="quarter" idx="10" hasCustomPrompt="1"/>
          </p:nvPr>
        </p:nvSpPr>
        <p:spPr bwMode="auto">
          <a:xfrm>
            <a:off x="2539901" y="2354263"/>
            <a:ext cx="5359546" cy="1343025"/>
          </a:xfrm>
          <a:prstGeom prst="rect">
            <a:avLst/>
          </a:prstGeom>
        </p:spPr>
        <p:txBody>
          <a:bodyPr anchor="ctr"/>
          <a:lstStyle>
            <a:lvl1pPr marL="0" marR="0" indent="0" algn="ctr" defTabSz="806867">
              <a:lnSpc>
                <a:spcPct val="90000"/>
              </a:lnSpc>
              <a:spcBef>
                <a:spcPts val="882"/>
              </a:spcBef>
              <a:spcAft>
                <a:spcPts val="0"/>
              </a:spcAft>
              <a:buClrTx/>
              <a:buSzTx/>
              <a:buFont typeface="Arial"/>
              <a:buNone/>
              <a:defRPr>
                <a:latin typeface="Be Vietnam"/>
              </a:defRPr>
            </a:lvl1pPr>
          </a:lstStyle>
          <a:p>
            <a:pPr marL="0" marR="0" lvl="0" indent="0" algn="ctr" defTabSz="806867">
              <a:lnSpc>
                <a:spcPct val="90000"/>
              </a:lnSpc>
              <a:spcBef>
                <a:spcPts val="882"/>
              </a:spcBef>
              <a:spcAft>
                <a:spcPts val="0"/>
              </a:spcAft>
              <a:buClrTx/>
              <a:buSzTx/>
              <a:buFont typeface="Arial"/>
              <a:buNone/>
              <a:defRPr/>
            </a:pPr>
            <a:r>
              <a:rPr lang="de-DE"/>
              <a:t>Reflexionsfrage</a:t>
            </a:r>
            <a:endParaRPr/>
          </a:p>
        </p:txBody>
      </p:sp>
      <p:sp>
        <p:nvSpPr>
          <p:cNvPr id="9" name="Oval 2"/>
          <p:cNvSpPr/>
          <p:nvPr userDrawn="1"/>
        </p:nvSpPr>
        <p:spPr bwMode="auto">
          <a:xfrm>
            <a:off x="1244553" y="2485774"/>
            <a:ext cx="1080000" cy="1080000"/>
          </a:xfrm>
          <a:prstGeom prst="ellipse">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de-DE" sz="6000">
                <a:solidFill>
                  <a:schemeClr val="tx1"/>
                </a:solidFill>
                <a:latin typeface="Be Vietnam"/>
              </a:rPr>
              <a:t>?</a:t>
            </a:r>
            <a:endParaRPr lang="de-DE" sz="4800">
              <a:solidFill>
                <a:schemeClr val="tx1"/>
              </a:solidFill>
              <a:latin typeface="Be Vietnam"/>
            </a:endParaRPr>
          </a:p>
        </p:txBody>
      </p:sp>
      <p:sp>
        <p:nvSpPr>
          <p:cNvPr id="10" name="Rechteck 9"/>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Fertiger Wissensspeicher">
    <p:spTree>
      <p:nvGrpSpPr>
        <p:cNvPr id="1" name=""/>
        <p:cNvGrpSpPr/>
        <p:nvPr/>
      </p:nvGrpSpPr>
      <p:grpSpPr bwMode="auto">
        <a:xfrm>
          <a:off x="0" y="0"/>
          <a:ext cx="0" cy="0"/>
          <a:chOff x="0" y="0"/>
          <a:chExt cx="0" cy="0"/>
        </a:xfrm>
      </p:grpSpPr>
      <p:sp>
        <p:nvSpPr>
          <p:cNvPr id="10"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Fertiger Wissensspeicher: Dann steht hier der Titel der Einheit</a:t>
            </a:r>
            <a:endParaRPr/>
          </a:p>
        </p:txBody>
      </p:sp>
      <p:sp>
        <p:nvSpPr>
          <p:cNvPr id="11"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7_C6AD0F17.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6_E0AB6C79.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8_75C87C06.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10B_D6BA82F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10C_9D04F8F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Inhaltsplatzhalter 1"/>
          <p:cNvSpPr>
            <a:spLocks noGrp="1"/>
          </p:cNvSpPr>
          <p:nvPr>
            <p:ph sz="quarter" idx="30"/>
          </p:nvPr>
        </p:nvSpPr>
        <p:spPr bwMode="auto"/>
        <p:txBody>
          <a:bodyPr/>
          <a:lstStyle/>
          <a:p>
            <a:pPr>
              <a:defRPr/>
            </a:pPr>
            <a:r>
              <a:rPr lang="de-DE" dirty="0"/>
              <a:t>Lieber Marcus,</a:t>
            </a:r>
          </a:p>
          <a:p>
            <a:pPr>
              <a:defRPr/>
            </a:pPr>
            <a:r>
              <a:rPr lang="de-DE" dirty="0"/>
              <a:t>Wir haben nun das gesamte Material endlich detailliert gesichtet mit der jetzigen Version des Tools und die notwendigen Funktionen in dieser </a:t>
            </a:r>
            <a:r>
              <a:rPr lang="de-DE" dirty="0" err="1"/>
              <a:t>Powerpoint</a:t>
            </a:r>
            <a:r>
              <a:rPr lang="de-DE" dirty="0"/>
              <a:t> dokumentiert. Danke für deine Geduld!</a:t>
            </a:r>
          </a:p>
          <a:p>
            <a:pPr>
              <a:defRPr/>
            </a:pPr>
            <a:r>
              <a:rPr lang="de-DE" dirty="0"/>
              <a:t>Es kommen noch paar  Funktionen dazu. Das ist von uns aber bewusst so als „</a:t>
            </a:r>
            <a:r>
              <a:rPr lang="de-DE" dirty="0" err="1"/>
              <a:t>Overload</a:t>
            </a:r>
            <a:r>
              <a:rPr lang="de-DE" dirty="0"/>
              <a:t>“ angelegt, damit wir das variabel ausschalten bzw. verschiedene Varianten des Tools rausgeben können, je nach Aufgabetyp. </a:t>
            </a:r>
          </a:p>
          <a:p>
            <a:pPr>
              <a:defRPr/>
            </a:pPr>
            <a:endParaRPr lang="de-DE" dirty="0"/>
          </a:p>
          <a:p>
            <a:pPr>
              <a:defRPr/>
            </a:pPr>
            <a:r>
              <a:rPr lang="de-DE" dirty="0"/>
              <a:t>Unser Gefühl ist, dass es vor allem bei dem Ausweiten über 100% noch Gesprächsbedarf gibt. Wir haben versucht zu dokumentieren, welche Funktion es in den Aufgabenstellungen erfüllen muss. Bitte melde dich gerne, wenn wir da nochmal persönlich drüber sprechen sollten. </a:t>
            </a:r>
          </a:p>
          <a:p>
            <a:pPr>
              <a:defRPr/>
            </a:pPr>
            <a:endParaRPr lang="de-DE" dirty="0"/>
          </a:p>
          <a:p>
            <a:pPr>
              <a:defRPr/>
            </a:pPr>
            <a:endParaRPr lang="de-DE"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30"/>
          </p:nvPr>
        </p:nvSpPr>
        <p:spPr>
          <a:xfrm>
            <a:off x="257901" y="226062"/>
            <a:ext cx="8628198" cy="6533326"/>
          </a:xfrm>
        </p:spPr>
        <p:txBody>
          <a:bodyPr/>
          <a:lstStyle/>
          <a:p>
            <a:r>
              <a:rPr lang="de-DE" sz="1600" dirty="0"/>
              <a:t>Kleinkram/ Design:</a:t>
            </a:r>
          </a:p>
          <a:p>
            <a:pPr marL="285750" indent="-285750">
              <a:buFont typeface="Arial" panose="020B0604020202020204" pitchFamily="34" charset="0"/>
              <a:buChar char="•"/>
            </a:pPr>
            <a:r>
              <a:rPr lang="de-DE" sz="1600" dirty="0">
                <a:highlight>
                  <a:srgbClr val="00FF00"/>
                </a:highlight>
              </a:rPr>
              <a:t>Teile umbenennen in „Schritte“</a:t>
            </a:r>
          </a:p>
          <a:p>
            <a:pPr marL="285750" indent="-285750">
              <a:buFont typeface="Arial" panose="020B0604020202020204" pitchFamily="34" charset="0"/>
              <a:buChar char="•"/>
            </a:pPr>
            <a:r>
              <a:rPr lang="de-DE" sz="1600" dirty="0">
                <a:highlight>
                  <a:srgbClr val="00FF00"/>
                </a:highlight>
              </a:rPr>
              <a:t>Skalierungsoption des ganzen Tools (ist es einstellbar, wie groß das ganze Tool in </a:t>
            </a:r>
            <a:r>
              <a:rPr lang="de-DE" sz="1600" dirty="0" err="1">
                <a:highlight>
                  <a:srgbClr val="00FF00"/>
                </a:highlight>
              </a:rPr>
              <a:t>Articulate</a:t>
            </a:r>
            <a:r>
              <a:rPr lang="de-DE" sz="1600" dirty="0">
                <a:highlight>
                  <a:srgbClr val="00FF00"/>
                </a:highlight>
              </a:rPr>
              <a:t> angezeigt wird?)</a:t>
            </a:r>
          </a:p>
          <a:p>
            <a:pPr marL="285750" indent="-285750">
              <a:buFont typeface="Arial" panose="020B0604020202020204" pitchFamily="34" charset="0"/>
              <a:buChar char="•"/>
            </a:pPr>
            <a:r>
              <a:rPr lang="de-DE" sz="1600" dirty="0">
                <a:highlight>
                  <a:srgbClr val="00FF00"/>
                </a:highlight>
              </a:rPr>
              <a:t>Standardeinstellungen des Tools, wenn man es öffnet: </a:t>
            </a:r>
            <a:br>
              <a:rPr lang="de-DE" sz="1600" dirty="0">
                <a:highlight>
                  <a:srgbClr val="00FF00"/>
                </a:highlight>
              </a:rPr>
            </a:br>
            <a:r>
              <a:rPr lang="de-DE" sz="1600" dirty="0">
                <a:highlight>
                  <a:srgbClr val="00FF00"/>
                </a:highlight>
              </a:rPr>
              <a:t>Anteil auf 0 und Grundwert auf 0</a:t>
            </a:r>
          </a:p>
          <a:p>
            <a:pPr marL="285750" indent="-285750">
              <a:buFont typeface="Arial" panose="020B0604020202020204" pitchFamily="34" charset="0"/>
              <a:buChar char="•"/>
            </a:pPr>
            <a:r>
              <a:rPr lang="de-DE" sz="1600" dirty="0">
                <a:highlight>
                  <a:srgbClr val="00FF00"/>
                </a:highlight>
              </a:rPr>
              <a:t>Einstellung des Anteils beim Öffnen des Tools: </a:t>
            </a:r>
          </a:p>
          <a:p>
            <a:pPr marL="971550" lvl="1" indent="-285750">
              <a:buFont typeface="Arial" panose="020B0604020202020204" pitchFamily="34" charset="0"/>
              <a:buChar char="•"/>
            </a:pPr>
            <a:r>
              <a:rPr lang="de-DE" sz="1600" dirty="0">
                <a:highlight>
                  <a:srgbClr val="00FF00"/>
                </a:highlight>
                <a:latin typeface="Be Vietnam" panose="00000500000000000000" pitchFamily="2" charset="0"/>
              </a:rPr>
              <a:t>Können wir als Admins einen Anteil schon voreinstellen auf z.B. 20 %, sodass es beim Öffnen direkt so angezeigt wird? Von dort aus können die Lernenden dann den Anteil verändern/ weiterziehen etc. </a:t>
            </a:r>
          </a:p>
          <a:p>
            <a:pPr marL="971550" lvl="1" indent="-285750">
              <a:buFont typeface="Arial" panose="020B0604020202020204" pitchFamily="34" charset="0"/>
              <a:buChar char="•"/>
            </a:pPr>
            <a:r>
              <a:rPr lang="de-DE" sz="1600" dirty="0">
                <a:highlight>
                  <a:srgbClr val="00FFFF"/>
                </a:highlight>
                <a:latin typeface="Be Vietnam" panose="00000500000000000000" pitchFamily="2" charset="0"/>
              </a:rPr>
              <a:t>Könnte man im Hintergrund auch den Anteil sperren, dass Lernende das nicht mehr verändern können?</a:t>
            </a:r>
          </a:p>
          <a:p>
            <a:pPr marL="285750" indent="-285750">
              <a:buFont typeface="Arial" panose="020B0604020202020204" pitchFamily="34" charset="0"/>
              <a:buChar char="•"/>
            </a:pPr>
            <a:r>
              <a:rPr lang="de-DE" sz="1600" dirty="0">
                <a:highlight>
                  <a:srgbClr val="00FFFF"/>
                </a:highlight>
              </a:rPr>
              <a:t>Derzeit wird beim Öffnen 0 MB, 0%, 100 % immer direkt angezeigt. </a:t>
            </a:r>
          </a:p>
          <a:p>
            <a:pPr marL="971550" lvl="1" indent="-285750">
              <a:buFont typeface="Arial" panose="020B0604020202020204" pitchFamily="34" charset="0"/>
              <a:buChar char="•"/>
            </a:pPr>
            <a:r>
              <a:rPr lang="de-DE" sz="1800" dirty="0">
                <a:highlight>
                  <a:srgbClr val="00FFFF"/>
                </a:highlight>
                <a:latin typeface="Be Vietnam" panose="00000500000000000000" pitchFamily="2" charset="0"/>
              </a:rPr>
              <a:t>Können wir das im Hintergrund ausschalten für bestimmte Aufgaben, bzw. nur einzelne dieser Werte anzeigen? </a:t>
            </a:r>
          </a:p>
          <a:p>
            <a:pPr marL="971550" lvl="1" indent="-285750">
              <a:buFont typeface="Arial" panose="020B0604020202020204" pitchFamily="34" charset="0"/>
              <a:buChar char="•"/>
            </a:pPr>
            <a:r>
              <a:rPr lang="de-DE" sz="1800" dirty="0">
                <a:highlight>
                  <a:srgbClr val="00FFFF"/>
                </a:highlight>
                <a:latin typeface="Be Vietnam" panose="00000500000000000000" pitchFamily="2" charset="0"/>
              </a:rPr>
              <a:t>Könnten wir auch andere Werte am Streifen anzeigen lassen an bestimmter Stelle, z. B: die 80 %? (auch nur als Einstellung im Hintergrund für uns als Admins)</a:t>
            </a:r>
          </a:p>
        </p:txBody>
      </p:sp>
      <p:pic>
        <p:nvPicPr>
          <p:cNvPr id="3" name="Grafik 2"/>
          <p:cNvPicPr>
            <a:picLocks noChangeAspect="1"/>
          </p:cNvPicPr>
          <p:nvPr/>
        </p:nvPicPr>
        <p:blipFill>
          <a:blip r:embed="rId3"/>
          <a:stretch>
            <a:fillRect/>
          </a:stretch>
        </p:blipFill>
        <p:spPr>
          <a:xfrm>
            <a:off x="2001437" y="5531863"/>
            <a:ext cx="3180163" cy="1132448"/>
          </a:xfrm>
          <a:prstGeom prst="rect">
            <a:avLst/>
          </a:prstGeom>
        </p:spPr>
      </p:pic>
      <p:sp>
        <p:nvSpPr>
          <p:cNvPr id="4" name="Textfeld 3"/>
          <p:cNvSpPr txBox="1"/>
          <p:nvPr/>
        </p:nvSpPr>
        <p:spPr>
          <a:xfrm>
            <a:off x="3706368" y="5531863"/>
            <a:ext cx="524256" cy="253916"/>
          </a:xfrm>
          <a:prstGeom prst="rect">
            <a:avLst/>
          </a:prstGeom>
          <a:noFill/>
        </p:spPr>
        <p:txBody>
          <a:bodyPr wrap="square" rtlCol="0">
            <a:spAutoFit/>
          </a:bodyPr>
          <a:lstStyle/>
          <a:p>
            <a:r>
              <a:rPr lang="de-DE" sz="1000" dirty="0"/>
              <a:t>80 %</a:t>
            </a:r>
          </a:p>
        </p:txBody>
      </p:sp>
    </p:spTree>
    <p:extLst>
      <p:ext uri="{BB962C8B-B14F-4D97-AF65-F5344CB8AC3E}">
        <p14:creationId xmlns:p14="http://schemas.microsoft.com/office/powerpoint/2010/main" val="3333230359"/>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30"/>
          </p:nvPr>
        </p:nvSpPr>
        <p:spPr/>
        <p:txBody>
          <a:bodyPr/>
          <a:lstStyle/>
          <a:p>
            <a:r>
              <a:rPr lang="de-DE" sz="1600" dirty="0"/>
              <a:t>Kleinkram/ Design:</a:t>
            </a:r>
          </a:p>
          <a:p>
            <a:pPr marL="285750" indent="-285750">
              <a:buFont typeface="Arial" panose="020B0604020202020204" pitchFamily="34" charset="0"/>
              <a:buChar char="•"/>
            </a:pPr>
            <a:r>
              <a:rPr lang="de-DE" sz="1600" dirty="0"/>
              <a:t>Derzeit wird Prozentwert (hier 357 MB) und Prozentsatz (50 %) links und rechts neben dem roten Anteil angezeigt. Prozentsatz sollte über den Balken und Prozentwert darunter angezeigt werden und mitwandern beim Verändern wie gehabt. </a:t>
            </a:r>
          </a:p>
          <a:p>
            <a:pPr marL="285750" indent="-285750">
              <a:buFont typeface="Arial" panose="020B0604020202020204" pitchFamily="34" charset="0"/>
              <a:buChar char="•"/>
            </a:pPr>
            <a:endParaRPr lang="de-DE" sz="1600" dirty="0"/>
          </a:p>
          <a:p>
            <a:pPr marL="285750" indent="-285750">
              <a:buFont typeface="Arial" panose="020B0604020202020204" pitchFamily="34" charset="0"/>
              <a:buChar char="•"/>
            </a:pPr>
            <a:endParaRPr lang="de-DE" sz="1600" dirty="0"/>
          </a:p>
          <a:p>
            <a:pPr marL="285750" indent="-285750">
              <a:buFont typeface="Arial" panose="020B0604020202020204" pitchFamily="34" charset="0"/>
              <a:buChar char="•"/>
            </a:pPr>
            <a:endParaRPr lang="de-DE" sz="1600" dirty="0"/>
          </a:p>
          <a:p>
            <a:pPr marL="285750" indent="-285750">
              <a:buFont typeface="Arial" panose="020B0604020202020204" pitchFamily="34" charset="0"/>
              <a:buChar char="•"/>
            </a:pPr>
            <a:endParaRPr lang="de-DE" sz="1600" dirty="0"/>
          </a:p>
          <a:p>
            <a:pPr marL="285750" indent="-285750">
              <a:buFont typeface="Arial" panose="020B0604020202020204" pitchFamily="34" charset="0"/>
              <a:buChar char="•"/>
            </a:pPr>
            <a:endParaRPr lang="de-DE" sz="1600" dirty="0"/>
          </a:p>
          <a:p>
            <a:pPr marL="285750" indent="-285750">
              <a:buFont typeface="Arial" panose="020B0604020202020204" pitchFamily="34" charset="0"/>
              <a:buChar char="•"/>
            </a:pPr>
            <a:endParaRPr lang="de-DE" sz="1600" dirty="0"/>
          </a:p>
          <a:p>
            <a:pPr marL="285750" indent="-285750">
              <a:buFont typeface="Arial" panose="020B0604020202020204" pitchFamily="34" charset="0"/>
              <a:buChar char="•"/>
            </a:pPr>
            <a:r>
              <a:rPr lang="de-DE" sz="1600" dirty="0">
                <a:solidFill>
                  <a:schemeClr val="accent6"/>
                </a:solidFill>
              </a:rPr>
              <a:t>Einheit bei Grundwert und Prozentwert muss für uns im Hintergrund anpassbar sein (hatten wir schon mal drüber gesprochen, z.B. MB, €, kg etc. )</a:t>
            </a:r>
            <a:r>
              <a:rPr lang="de-DE" dirty="0">
                <a:solidFill>
                  <a:schemeClr val="accent6"/>
                </a:solidFill>
              </a:rPr>
              <a:t> </a:t>
            </a:r>
          </a:p>
          <a:p>
            <a:pPr marL="285750" indent="-285750">
              <a:buFont typeface="Arial" panose="020B0604020202020204" pitchFamily="34" charset="0"/>
              <a:buChar char="•"/>
            </a:pPr>
            <a:r>
              <a:rPr lang="de-DE" dirty="0">
                <a:solidFill>
                  <a:schemeClr val="accent6"/>
                </a:solidFill>
              </a:rPr>
              <a:t>Die Anzeige 0,5 links unten im Streifen muss weg</a:t>
            </a:r>
            <a:endParaRPr lang="de-DE" sz="1600" dirty="0">
              <a:solidFill>
                <a:schemeClr val="accent6"/>
              </a:solidFill>
            </a:endParaRPr>
          </a:p>
          <a:p>
            <a:pPr marL="285750" indent="-285750">
              <a:buFont typeface="Arial" panose="020B0604020202020204" pitchFamily="34" charset="0"/>
              <a:buChar char="•"/>
            </a:pPr>
            <a:r>
              <a:rPr lang="de-DE" sz="1600" dirty="0">
                <a:solidFill>
                  <a:schemeClr val="accent6"/>
                </a:solidFill>
              </a:rPr>
              <a:t>Prozentstreifen etwas „</a:t>
            </a:r>
            <a:r>
              <a:rPr lang="de-DE" sz="1600" dirty="0" err="1">
                <a:solidFill>
                  <a:schemeClr val="accent6"/>
                </a:solidFill>
              </a:rPr>
              <a:t>schmaller</a:t>
            </a:r>
            <a:r>
              <a:rPr lang="de-DE" sz="1600" dirty="0">
                <a:solidFill>
                  <a:schemeClr val="accent6"/>
                </a:solidFill>
              </a:rPr>
              <a:t>“ in der Höhe, und etwas länger</a:t>
            </a:r>
          </a:p>
          <a:p>
            <a:pPr marL="285750" indent="-285750">
              <a:buFont typeface="Arial" panose="020B0604020202020204" pitchFamily="34" charset="0"/>
              <a:buChar char="•"/>
            </a:pPr>
            <a:r>
              <a:rPr lang="de-DE" sz="1600" dirty="0">
                <a:solidFill>
                  <a:schemeClr val="accent6"/>
                </a:solidFill>
              </a:rPr>
              <a:t>Dicke Striche links und rechts müssen dünner. </a:t>
            </a:r>
          </a:p>
          <a:p>
            <a:pPr marL="285750" indent="-285750">
              <a:buFont typeface="Arial" panose="020B0604020202020204" pitchFamily="34" charset="0"/>
              <a:buChar char="•"/>
            </a:pPr>
            <a:endParaRPr lang="de-DE" sz="1600" dirty="0"/>
          </a:p>
        </p:txBody>
      </p:sp>
      <p:pic>
        <p:nvPicPr>
          <p:cNvPr id="5" name="Grafik 4"/>
          <p:cNvPicPr>
            <a:picLocks noChangeAspect="1"/>
          </p:cNvPicPr>
          <p:nvPr/>
        </p:nvPicPr>
        <p:blipFill>
          <a:blip r:embed="rId2"/>
          <a:stretch>
            <a:fillRect/>
          </a:stretch>
        </p:blipFill>
        <p:spPr>
          <a:xfrm>
            <a:off x="633794" y="1568577"/>
            <a:ext cx="4441198" cy="1540383"/>
          </a:xfrm>
          <a:prstGeom prst="rect">
            <a:avLst/>
          </a:prstGeom>
        </p:spPr>
      </p:pic>
      <p:sp>
        <p:nvSpPr>
          <p:cNvPr id="6" name="Textfeld 5"/>
          <p:cNvSpPr txBox="1"/>
          <p:nvPr/>
        </p:nvSpPr>
        <p:spPr>
          <a:xfrm>
            <a:off x="2109216" y="1592961"/>
            <a:ext cx="524256" cy="215444"/>
          </a:xfrm>
          <a:prstGeom prst="rect">
            <a:avLst/>
          </a:prstGeom>
          <a:noFill/>
        </p:spPr>
        <p:txBody>
          <a:bodyPr wrap="square" rtlCol="0">
            <a:spAutoFit/>
          </a:bodyPr>
          <a:lstStyle/>
          <a:p>
            <a:r>
              <a:rPr lang="de-DE" sz="800" dirty="0"/>
              <a:t>50 %</a:t>
            </a:r>
          </a:p>
        </p:txBody>
      </p:sp>
      <p:sp>
        <p:nvSpPr>
          <p:cNvPr id="7" name="Textfeld 6"/>
          <p:cNvSpPr txBox="1"/>
          <p:nvPr/>
        </p:nvSpPr>
        <p:spPr>
          <a:xfrm>
            <a:off x="2072640" y="2175234"/>
            <a:ext cx="670560" cy="215444"/>
          </a:xfrm>
          <a:prstGeom prst="rect">
            <a:avLst/>
          </a:prstGeom>
          <a:noFill/>
        </p:spPr>
        <p:txBody>
          <a:bodyPr wrap="square" rtlCol="0">
            <a:spAutoFit/>
          </a:bodyPr>
          <a:lstStyle/>
          <a:p>
            <a:r>
              <a:rPr lang="de-DE" sz="800" dirty="0"/>
              <a:t>357 MB</a:t>
            </a:r>
          </a:p>
        </p:txBody>
      </p:sp>
    </p:spTree>
    <p:extLst>
      <p:ext uri="{BB962C8B-B14F-4D97-AF65-F5344CB8AC3E}">
        <p14:creationId xmlns:p14="http://schemas.microsoft.com/office/powerpoint/2010/main" val="1663545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30"/>
          </p:nvPr>
        </p:nvSpPr>
        <p:spPr/>
        <p:txBody>
          <a:bodyPr/>
          <a:lstStyle/>
          <a:p>
            <a:r>
              <a:rPr lang="de-DE" dirty="0"/>
              <a:t>Neue Funktionen:</a:t>
            </a:r>
          </a:p>
          <a:p>
            <a:pPr marL="285750" indent="-285750">
              <a:buFont typeface="Arial" panose="020B0604020202020204" pitchFamily="34" charset="0"/>
              <a:buChar char="•"/>
            </a:pPr>
            <a:r>
              <a:rPr lang="de-DE" dirty="0"/>
              <a:t>An Grundwert – Eingabefeld auch „-“ und „+“ ergänzen, um Grundwert schrittweise zu verändern (analog wie bei Schritten)</a:t>
            </a:r>
          </a:p>
          <a:p>
            <a:endParaRPr lang="de-DE" dirty="0"/>
          </a:p>
          <a:p>
            <a:endParaRPr lang="de-DE" dirty="0"/>
          </a:p>
          <a:p>
            <a:pPr marL="285750" indent="-285750">
              <a:buFont typeface="Arial" panose="020B0604020202020204" pitchFamily="34" charset="0"/>
              <a:buChar char="•"/>
            </a:pPr>
            <a:endParaRPr lang="de-DE" dirty="0"/>
          </a:p>
          <a:p>
            <a:pPr marL="285750" indent="-285750">
              <a:buFont typeface="Arial" panose="020B0604020202020204" pitchFamily="34" charset="0"/>
              <a:buChar char="•"/>
            </a:pPr>
            <a:endParaRPr lang="de-DE" dirty="0"/>
          </a:p>
          <a:p>
            <a:endParaRPr lang="de-DE" dirty="0"/>
          </a:p>
          <a:p>
            <a:pPr marL="285750" indent="-285750">
              <a:buFont typeface="Arial" panose="020B0604020202020204" pitchFamily="34" charset="0"/>
              <a:buChar char="•"/>
            </a:pPr>
            <a:r>
              <a:rPr lang="de-DE" dirty="0">
                <a:solidFill>
                  <a:srgbClr val="FF0000"/>
                </a:solidFill>
              </a:rPr>
              <a:t>Die Funktion mit den Bögen ist richtig schön! Danke dafür </a:t>
            </a:r>
            <a:r>
              <a:rPr lang="de-DE" dirty="0">
                <a:solidFill>
                  <a:srgbClr val="FF0000"/>
                </a:solidFill>
                <a:sym typeface="Wingdings" panose="05000000000000000000" pitchFamily="2" charset="2"/>
              </a:rPr>
              <a:t> </a:t>
            </a:r>
            <a:r>
              <a:rPr lang="de-DE" dirty="0">
                <a:solidFill>
                  <a:srgbClr val="FF0000"/>
                </a:solidFill>
              </a:rPr>
              <a:t> Bisher funktioniert die nur für die </a:t>
            </a:r>
            <a:r>
              <a:rPr lang="de-DE" dirty="0" err="1">
                <a:solidFill>
                  <a:srgbClr val="FF0000"/>
                </a:solidFill>
              </a:rPr>
              <a:t>Schrittigkeit</a:t>
            </a:r>
            <a:r>
              <a:rPr lang="de-DE" dirty="0">
                <a:solidFill>
                  <a:srgbClr val="FF0000"/>
                </a:solidFill>
              </a:rPr>
              <a:t> 5, das ist vermutlich ein Bug?</a:t>
            </a:r>
          </a:p>
        </p:txBody>
      </p:sp>
      <p:pic>
        <p:nvPicPr>
          <p:cNvPr id="3" name="Grafik 2"/>
          <p:cNvPicPr>
            <a:picLocks noChangeAspect="1"/>
          </p:cNvPicPr>
          <p:nvPr/>
        </p:nvPicPr>
        <p:blipFill>
          <a:blip r:embed="rId3"/>
          <a:stretch>
            <a:fillRect/>
          </a:stretch>
        </p:blipFill>
        <p:spPr>
          <a:xfrm>
            <a:off x="684701" y="1357312"/>
            <a:ext cx="4511554" cy="1606553"/>
          </a:xfrm>
          <a:prstGeom prst="rect">
            <a:avLst/>
          </a:prstGeom>
        </p:spPr>
      </p:pic>
      <p:pic>
        <p:nvPicPr>
          <p:cNvPr id="4" name="Grafik 3"/>
          <p:cNvPicPr>
            <a:picLocks noChangeAspect="1"/>
          </p:cNvPicPr>
          <p:nvPr/>
        </p:nvPicPr>
        <p:blipFill rotWithShape="1">
          <a:blip r:embed="rId3"/>
          <a:srcRect l="88424" t="60116" r="2420" b="25132"/>
          <a:stretch/>
        </p:blipFill>
        <p:spPr>
          <a:xfrm>
            <a:off x="4668716" y="2553169"/>
            <a:ext cx="429065" cy="246185"/>
          </a:xfrm>
          <a:prstGeom prst="rect">
            <a:avLst/>
          </a:prstGeom>
        </p:spPr>
      </p:pic>
      <p:pic>
        <p:nvPicPr>
          <p:cNvPr id="5" name="Grafik 4"/>
          <p:cNvPicPr>
            <a:picLocks noChangeAspect="1"/>
          </p:cNvPicPr>
          <p:nvPr/>
        </p:nvPicPr>
        <p:blipFill>
          <a:blip r:embed="rId4"/>
          <a:stretch>
            <a:fillRect/>
          </a:stretch>
        </p:blipFill>
        <p:spPr>
          <a:xfrm>
            <a:off x="1160220" y="3773365"/>
            <a:ext cx="4370144" cy="1948384"/>
          </a:xfrm>
          <a:prstGeom prst="rect">
            <a:avLst/>
          </a:prstGeom>
        </p:spPr>
      </p:pic>
    </p:spTree>
    <p:extLst>
      <p:ext uri="{BB962C8B-B14F-4D97-AF65-F5344CB8AC3E}">
        <p14:creationId xmlns:p14="http://schemas.microsoft.com/office/powerpoint/2010/main" val="3769330809"/>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30"/>
          </p:nvPr>
        </p:nvSpPr>
        <p:spPr>
          <a:xfrm>
            <a:off x="257901" y="226062"/>
            <a:ext cx="8628198" cy="4901749"/>
          </a:xfrm>
        </p:spPr>
        <p:txBody>
          <a:bodyPr/>
          <a:lstStyle/>
          <a:p>
            <a:pPr marL="285750" indent="-285750">
              <a:buFont typeface="Arial" panose="020B0604020202020204" pitchFamily="34" charset="0"/>
              <a:buChar char="•"/>
            </a:pPr>
            <a:r>
              <a:rPr lang="de-DE" dirty="0">
                <a:solidFill>
                  <a:srgbClr val="FF0000"/>
                </a:solidFill>
              </a:rPr>
              <a:t>Auch für Prozentwert und Prozentsatz soll es ein Eingabefeld geben wie bei dem Grundwert (mit – und + wie bei Grundwert)</a:t>
            </a:r>
          </a:p>
          <a:p>
            <a:pPr marL="285750" indent="-285750">
              <a:buFont typeface="Arial" panose="020B0604020202020204" pitchFamily="34" charset="0"/>
              <a:buChar char="•"/>
            </a:pPr>
            <a:endParaRPr lang="de-DE" dirty="0"/>
          </a:p>
          <a:p>
            <a:pPr marL="285750" indent="-285750">
              <a:buFont typeface="Arial" panose="020B0604020202020204" pitchFamily="34" charset="0"/>
              <a:buChar char="•"/>
            </a:pPr>
            <a:endParaRPr lang="de-DE" dirty="0"/>
          </a:p>
          <a:p>
            <a:endParaRPr lang="de-DE" dirty="0"/>
          </a:p>
          <a:p>
            <a:endParaRPr lang="de-DE" dirty="0"/>
          </a:p>
          <a:p>
            <a:endParaRPr lang="de-DE" dirty="0"/>
          </a:p>
          <a:p>
            <a:endParaRPr lang="de-DE" dirty="0"/>
          </a:p>
          <a:p>
            <a:endParaRPr lang="de-DE" dirty="0"/>
          </a:p>
          <a:p>
            <a:pPr marL="285750" indent="-285750">
              <a:buFont typeface="Arial" panose="020B0604020202020204" pitchFamily="34" charset="0"/>
              <a:buChar char="•"/>
            </a:pPr>
            <a:r>
              <a:rPr lang="de-DE" dirty="0"/>
              <a:t>Anzeige von Grundwert muss am Streifen ausschaltbar sein über Button (so wie jetzt schon bei Prozentsatz und Prozentwert)</a:t>
            </a:r>
          </a:p>
          <a:p>
            <a:pPr marL="285750" indent="-285750">
              <a:buFont typeface="Arial" panose="020B0604020202020204" pitchFamily="34" charset="0"/>
              <a:buChar char="•"/>
            </a:pPr>
            <a:r>
              <a:rPr lang="de-DE" dirty="0"/>
              <a:t>Eingabefelder für Prozentwert, Prozentsatz und Grundwert (gelbe Felder rechts unten) müssen ebenfalls auf unsichtbar schaltbar/ ausschaltbar sein (ebenfalls über Button, d.h. wir brauchen hier drei Buttons mehr)</a:t>
            </a:r>
          </a:p>
          <a:p>
            <a:pPr marL="285750" indent="-285750">
              <a:buFont typeface="Arial" panose="020B0604020202020204" pitchFamily="34" charset="0"/>
              <a:buChar char="•"/>
            </a:pPr>
            <a:endParaRPr lang="de-DE" dirty="0"/>
          </a:p>
          <a:p>
            <a:endParaRPr lang="de-DE" dirty="0"/>
          </a:p>
        </p:txBody>
      </p:sp>
      <p:pic>
        <p:nvPicPr>
          <p:cNvPr id="3" name="Grafik 2"/>
          <p:cNvPicPr>
            <a:picLocks noChangeAspect="1"/>
          </p:cNvPicPr>
          <p:nvPr/>
        </p:nvPicPr>
        <p:blipFill>
          <a:blip r:embed="rId3"/>
          <a:stretch>
            <a:fillRect/>
          </a:stretch>
        </p:blipFill>
        <p:spPr>
          <a:xfrm>
            <a:off x="930885" y="864942"/>
            <a:ext cx="4734974" cy="1686113"/>
          </a:xfrm>
          <a:prstGeom prst="rect">
            <a:avLst/>
          </a:prstGeom>
        </p:spPr>
      </p:pic>
      <p:sp>
        <p:nvSpPr>
          <p:cNvPr id="5" name="Rechteck 4"/>
          <p:cNvSpPr/>
          <p:nvPr/>
        </p:nvSpPr>
        <p:spPr>
          <a:xfrm>
            <a:off x="4645152" y="2449915"/>
            <a:ext cx="479122" cy="160647"/>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p:cNvPicPr>
            <a:picLocks noChangeAspect="1"/>
          </p:cNvPicPr>
          <p:nvPr/>
        </p:nvPicPr>
        <p:blipFill rotWithShape="1">
          <a:blip r:embed="rId3"/>
          <a:srcRect l="88424" t="60116" r="2420" b="25132"/>
          <a:stretch/>
        </p:blipFill>
        <p:spPr>
          <a:xfrm>
            <a:off x="5124274" y="2117610"/>
            <a:ext cx="429065" cy="246185"/>
          </a:xfrm>
          <a:prstGeom prst="rect">
            <a:avLst/>
          </a:prstGeom>
        </p:spPr>
      </p:pic>
      <p:sp>
        <p:nvSpPr>
          <p:cNvPr id="7" name="Rechteck 6"/>
          <p:cNvSpPr/>
          <p:nvPr/>
        </p:nvSpPr>
        <p:spPr>
          <a:xfrm>
            <a:off x="4645152" y="2717498"/>
            <a:ext cx="479122" cy="160647"/>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p:cNvPicPr>
            <a:picLocks noChangeAspect="1"/>
          </p:cNvPicPr>
          <p:nvPr/>
        </p:nvPicPr>
        <p:blipFill rotWithShape="1">
          <a:blip r:embed="rId3"/>
          <a:srcRect l="88424" t="60116" r="2420" b="25132"/>
          <a:stretch/>
        </p:blipFill>
        <p:spPr>
          <a:xfrm>
            <a:off x="5124273" y="2388091"/>
            <a:ext cx="429065" cy="246185"/>
          </a:xfrm>
          <a:prstGeom prst="rect">
            <a:avLst/>
          </a:prstGeom>
        </p:spPr>
      </p:pic>
      <p:pic>
        <p:nvPicPr>
          <p:cNvPr id="9" name="Grafik 8"/>
          <p:cNvPicPr>
            <a:picLocks noChangeAspect="1"/>
          </p:cNvPicPr>
          <p:nvPr/>
        </p:nvPicPr>
        <p:blipFill rotWithShape="1">
          <a:blip r:embed="rId3"/>
          <a:srcRect l="88424" t="60116" r="2420" b="25132"/>
          <a:stretch/>
        </p:blipFill>
        <p:spPr>
          <a:xfrm>
            <a:off x="5124272" y="2658653"/>
            <a:ext cx="429065" cy="246185"/>
          </a:xfrm>
          <a:prstGeom prst="rect">
            <a:avLst/>
          </a:prstGeom>
        </p:spPr>
      </p:pic>
      <p:sp>
        <p:nvSpPr>
          <p:cNvPr id="10" name="Rechteck 9"/>
          <p:cNvSpPr/>
          <p:nvPr/>
        </p:nvSpPr>
        <p:spPr>
          <a:xfrm>
            <a:off x="3893319" y="1920430"/>
            <a:ext cx="893437" cy="240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Schritte</a:t>
            </a:r>
          </a:p>
        </p:txBody>
      </p:sp>
      <p:sp>
        <p:nvSpPr>
          <p:cNvPr id="11" name="Rechteck 10"/>
          <p:cNvSpPr/>
          <p:nvPr/>
        </p:nvSpPr>
        <p:spPr>
          <a:xfrm>
            <a:off x="3788291" y="2148049"/>
            <a:ext cx="893437" cy="240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Grundwert</a:t>
            </a:r>
          </a:p>
        </p:txBody>
      </p:sp>
      <p:sp>
        <p:nvSpPr>
          <p:cNvPr id="12" name="Rechteck 11"/>
          <p:cNvSpPr/>
          <p:nvPr/>
        </p:nvSpPr>
        <p:spPr>
          <a:xfrm>
            <a:off x="3683263" y="2394233"/>
            <a:ext cx="998464" cy="2637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Prozentwert</a:t>
            </a:r>
          </a:p>
        </p:txBody>
      </p:sp>
      <p:sp>
        <p:nvSpPr>
          <p:cNvPr id="13" name="Rechteck 12"/>
          <p:cNvSpPr/>
          <p:nvPr/>
        </p:nvSpPr>
        <p:spPr>
          <a:xfrm>
            <a:off x="3683262" y="2666244"/>
            <a:ext cx="998464" cy="2637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Prozentsatz</a:t>
            </a:r>
          </a:p>
        </p:txBody>
      </p:sp>
    </p:spTree>
    <p:extLst>
      <p:ext uri="{BB962C8B-B14F-4D97-AF65-F5344CB8AC3E}">
        <p14:creationId xmlns:p14="http://schemas.microsoft.com/office/powerpoint/2010/main" val="197607322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30"/>
          </p:nvPr>
        </p:nvSpPr>
        <p:spPr>
          <a:xfrm>
            <a:off x="257901" y="226062"/>
            <a:ext cx="8628198" cy="5439631"/>
          </a:xfrm>
        </p:spPr>
        <p:txBody>
          <a:bodyPr/>
          <a:lstStyle/>
          <a:p>
            <a:pPr marL="285750" indent="-285750">
              <a:buFont typeface="Arial" panose="020B0604020202020204" pitchFamily="34" charset="0"/>
              <a:buChar char="•"/>
            </a:pPr>
            <a:r>
              <a:rPr lang="de-DE" dirty="0">
                <a:highlight>
                  <a:srgbClr val="FFFF00"/>
                </a:highlight>
                <a:latin typeface="Be Vietnam" panose="00000500000000000000" pitchFamily="2" charset="0"/>
              </a:rPr>
              <a:t>Graue Kästchen bei Prozentwert, Prozentsatz und Grundwert, als einschaltbares Scaffold bei Bedarf, um auf die relevanten Größen die Aufmerksamkeit zu setzen. </a:t>
            </a:r>
          </a:p>
          <a:p>
            <a:pPr marL="971550" lvl="1" indent="-285750">
              <a:buFont typeface="Arial" panose="020B0604020202020204" pitchFamily="34" charset="0"/>
              <a:buChar char="•"/>
            </a:pPr>
            <a:r>
              <a:rPr lang="de-DE" sz="1800" dirty="0">
                <a:highlight>
                  <a:srgbClr val="FFFF00"/>
                </a:highlight>
                <a:latin typeface="Be Vietnam" panose="00000500000000000000" pitchFamily="2" charset="0"/>
              </a:rPr>
              <a:t>Kann jedes Kästchen von uns im Hintergrund individuell ein – und ausgeschaltet werden? </a:t>
            </a:r>
          </a:p>
          <a:p>
            <a:pPr marL="971550" lvl="1" indent="-285750">
              <a:buFont typeface="Arial" panose="020B0604020202020204" pitchFamily="34" charset="0"/>
              <a:buChar char="•"/>
            </a:pPr>
            <a:r>
              <a:rPr lang="de-DE" sz="1800" dirty="0">
                <a:highlight>
                  <a:srgbClr val="FFFF00"/>
                </a:highlight>
                <a:latin typeface="Be Vietnam" panose="00000500000000000000" pitchFamily="2" charset="0"/>
              </a:rPr>
              <a:t>Aber Zahlenwert kann unabhängig von Anzeige dieses Kärtchens auf unsichtbar gestellt werden. Kästchen müssen mit Balken mitwandern</a:t>
            </a:r>
          </a:p>
        </p:txBody>
      </p:sp>
      <p:pic>
        <p:nvPicPr>
          <p:cNvPr id="5" name="Grafik 4"/>
          <p:cNvPicPr>
            <a:picLocks noChangeAspect="1"/>
          </p:cNvPicPr>
          <p:nvPr/>
        </p:nvPicPr>
        <p:blipFill>
          <a:blip r:embed="rId3"/>
          <a:stretch>
            <a:fillRect/>
          </a:stretch>
        </p:blipFill>
        <p:spPr>
          <a:xfrm>
            <a:off x="463677" y="3163633"/>
            <a:ext cx="5924550" cy="2066925"/>
          </a:xfrm>
          <a:prstGeom prst="rect">
            <a:avLst/>
          </a:prstGeom>
        </p:spPr>
      </p:pic>
      <p:sp>
        <p:nvSpPr>
          <p:cNvPr id="7" name="Abgerundetes Rechteck 6"/>
          <p:cNvSpPr/>
          <p:nvPr/>
        </p:nvSpPr>
        <p:spPr>
          <a:xfrm>
            <a:off x="2389632" y="4060218"/>
            <a:ext cx="499872" cy="281892"/>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Abgerundetes Rechteck 8"/>
          <p:cNvSpPr/>
          <p:nvPr/>
        </p:nvSpPr>
        <p:spPr>
          <a:xfrm>
            <a:off x="4425505" y="4056149"/>
            <a:ext cx="499872" cy="281892"/>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Abgerundetes Rechteck 9"/>
          <p:cNvSpPr/>
          <p:nvPr/>
        </p:nvSpPr>
        <p:spPr>
          <a:xfrm>
            <a:off x="2389632" y="3105314"/>
            <a:ext cx="499872" cy="281892"/>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602547445"/>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30"/>
          </p:nvPr>
        </p:nvSpPr>
        <p:spPr>
          <a:xfrm>
            <a:off x="257901" y="226062"/>
            <a:ext cx="8628198" cy="4928643"/>
          </a:xfrm>
        </p:spPr>
        <p:txBody>
          <a:bodyPr/>
          <a:lstStyle/>
          <a:p>
            <a:pPr marL="285750" indent="-285750">
              <a:buFont typeface="Arial" panose="020B0604020202020204" pitchFamily="34" charset="0"/>
              <a:buChar char="•"/>
            </a:pPr>
            <a:r>
              <a:rPr lang="de-DE" dirty="0"/>
              <a:t>Erweitern des Streifens über 100% hinaus</a:t>
            </a:r>
          </a:p>
          <a:p>
            <a:pPr marL="971550" lvl="1" indent="-285750">
              <a:buFont typeface="Arial" panose="020B0604020202020204" pitchFamily="34" charset="0"/>
              <a:buChar char="•"/>
            </a:pPr>
            <a:r>
              <a:rPr lang="de-DE" sz="1800" dirty="0">
                <a:latin typeface="Be Vietnam" panose="00000500000000000000" pitchFamily="2" charset="0"/>
              </a:rPr>
              <a:t>Version „Prozentstreifen implizit rot“: Hier ist das Problem, dass Streifen nur bei Veränderung des roten Anteils „wächst“. Anteil (roter Balken) und grauer Gesamtbalken müssen unabhängig voneinander veränderbar sein. Grauer Gesamtbalken muss „kontinuierlich“ verlängerbar sein (ist </a:t>
            </a:r>
            <a:r>
              <a:rPr lang="de-DE" sz="1800" dirty="0" err="1">
                <a:latin typeface="Be Vietnam" panose="00000500000000000000" pitchFamily="2" charset="0"/>
              </a:rPr>
              <a:t>Schrittigkeit</a:t>
            </a:r>
            <a:r>
              <a:rPr lang="de-DE" sz="1800" dirty="0">
                <a:latin typeface="Be Vietnam" panose="00000500000000000000" pitchFamily="2" charset="0"/>
              </a:rPr>
              <a:t> an Feinheitsstufe der </a:t>
            </a:r>
            <a:r>
              <a:rPr lang="de-DE" sz="1800" dirty="0" err="1">
                <a:latin typeface="Be Vietnam" panose="00000500000000000000" pitchFamily="2" charset="0"/>
              </a:rPr>
              <a:t>Kontinuierlichkeit</a:t>
            </a:r>
            <a:r>
              <a:rPr lang="de-DE" sz="1800" dirty="0">
                <a:latin typeface="Be Vietnam" panose="00000500000000000000" pitchFamily="2" charset="0"/>
              </a:rPr>
              <a:t> „</a:t>
            </a:r>
            <a:r>
              <a:rPr lang="de-DE" sz="1800" dirty="0" err="1">
                <a:latin typeface="Be Vietnam" panose="00000500000000000000" pitchFamily="2" charset="0"/>
              </a:rPr>
              <a:t>prec</a:t>
            </a:r>
            <a:r>
              <a:rPr lang="de-DE" sz="1800" dirty="0">
                <a:latin typeface="Be Vietnam" panose="00000500000000000000" pitchFamily="2" charset="0"/>
              </a:rPr>
              <a:t>“ koppelbar“?)</a:t>
            </a:r>
          </a:p>
          <a:p>
            <a:pPr marL="971550" lvl="1" indent="-285750">
              <a:buFont typeface="Arial" panose="020B0604020202020204" pitchFamily="34" charset="0"/>
              <a:buChar char="•"/>
            </a:pPr>
            <a:r>
              <a:rPr lang="de-DE" sz="1800" b="1" dirty="0">
                <a:latin typeface="Be Vietnam" panose="00000500000000000000" pitchFamily="2" charset="0"/>
              </a:rPr>
              <a:t>Aufgabentyp</a:t>
            </a:r>
            <a:r>
              <a:rPr lang="de-DE" sz="1800" dirty="0">
                <a:latin typeface="Be Vietnam" panose="00000500000000000000" pitchFamily="2" charset="0"/>
              </a:rPr>
              <a:t>: „verlängerter“ Gesamtprozent wie 119% und neuer dazu passender „vergrößerter“  Grundwert wie 9,90€ sind vorgegeben, davon ausgehend ist der eigentlich Grundwert zu bestimmen (also eigentlich jetzt der Prozentwert). Wie kann das technisch am besten gehen? Braucht es hier neues Eingabefeld für diesen neuen Grundwert? Oder kann man das koppeln an den ursprünglichen Grundwert? </a:t>
            </a:r>
          </a:p>
          <a:p>
            <a:pPr lvl="1" indent="0">
              <a:buNone/>
            </a:pPr>
            <a:endParaRPr lang="de-DE" sz="1800" dirty="0">
              <a:latin typeface="Be Vietnam" panose="00000500000000000000" pitchFamily="2" charset="0"/>
            </a:endParaRPr>
          </a:p>
        </p:txBody>
      </p:sp>
      <p:pic>
        <p:nvPicPr>
          <p:cNvPr id="4" name="Grafik 3"/>
          <p:cNvPicPr>
            <a:picLocks noChangeAspect="1"/>
          </p:cNvPicPr>
          <p:nvPr/>
        </p:nvPicPr>
        <p:blipFill>
          <a:blip r:embed="rId3"/>
          <a:stretch>
            <a:fillRect/>
          </a:stretch>
        </p:blipFill>
        <p:spPr>
          <a:xfrm>
            <a:off x="1608068" y="4252532"/>
            <a:ext cx="5635255" cy="1600374"/>
          </a:xfrm>
          <a:prstGeom prst="rect">
            <a:avLst/>
          </a:prstGeom>
        </p:spPr>
      </p:pic>
    </p:spTree>
    <p:extLst>
      <p:ext uri="{BB962C8B-B14F-4D97-AF65-F5344CB8AC3E}">
        <p14:creationId xmlns:p14="http://schemas.microsoft.com/office/powerpoint/2010/main" val="2634348790"/>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30"/>
          </p:nvPr>
        </p:nvSpPr>
        <p:spPr/>
        <p:txBody>
          <a:bodyPr/>
          <a:lstStyle/>
          <a:p>
            <a:endParaRPr lang="de-DE" dirty="0"/>
          </a:p>
          <a:p>
            <a:pPr marL="285750" indent="-285750">
              <a:buFont typeface="Arial" panose="020B0604020202020204" pitchFamily="34" charset="0"/>
              <a:buChar char="•"/>
            </a:pPr>
            <a:r>
              <a:rPr lang="de-DE" dirty="0"/>
              <a:t>Auf lange Sicht liebäugeln wir noch mit dem Freihandtool am Streifen in Cindy, um Notizen und Pfeile dran eintragen zu können. Wir probieren gerade aus, wie ein Freihandtool in </a:t>
            </a:r>
            <a:r>
              <a:rPr lang="de-DE" dirty="0" err="1"/>
              <a:t>Articulate</a:t>
            </a:r>
            <a:r>
              <a:rPr lang="de-DE" dirty="0"/>
              <a:t> gehen könnte. </a:t>
            </a:r>
            <a:br>
              <a:rPr lang="de-DE" dirty="0"/>
            </a:br>
            <a:r>
              <a:rPr lang="de-DE" dirty="0"/>
              <a:t>Die anderen Funktionen haben wir uns Priorität, um schon einmal in Erhebungen starten zu können. Wir wollten den Punkt hier aber vollständigkeitshalber anmerken. </a:t>
            </a:r>
          </a:p>
          <a:p>
            <a:endParaRPr lang="de-DE" dirty="0"/>
          </a:p>
        </p:txBody>
      </p:sp>
    </p:spTree>
    <p:extLst>
      <p:ext uri="{BB962C8B-B14F-4D97-AF65-F5344CB8AC3E}">
        <p14:creationId xmlns:p14="http://schemas.microsoft.com/office/powerpoint/2010/main" val="237044704"/>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enutzerdefiniert 1">
      <a:majorFont>
        <a:latin typeface="Be Vietnam Pro bold"/>
        <a:ea typeface="Arial"/>
        <a:cs typeface="Arial"/>
      </a:majorFont>
      <a:minorFont>
        <a:latin typeface="Be Vietnam Pro"/>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
      <a:majorFont>
        <a:latin typeface="Be Vietnam Pro bold"/>
        <a:ea typeface="Arial"/>
        <a:cs typeface="Arial"/>
      </a:majorFont>
      <a:minorFont>
        <a:latin typeface="Be Vietnam Pro"/>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0</TotalTime>
  <Words>786</Words>
  <Application>Microsoft Office PowerPoint</Application>
  <PresentationFormat>Bildschirmpräsentation (4:3)</PresentationFormat>
  <Paragraphs>61</Paragraphs>
  <Slides>8</Slides>
  <Notes>1</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8</vt:i4>
      </vt:variant>
    </vt:vector>
  </HeadingPairs>
  <TitlesOfParts>
    <vt:vector size="14" baseType="lpstr">
      <vt:lpstr>Arial</vt:lpstr>
      <vt:lpstr>Be Vietnam</vt:lpstr>
      <vt:lpstr>Be Vietnam Pro</vt:lpstr>
      <vt:lpstr>Calibri Light</vt:lpstr>
      <vt:lpstr>Wingdings</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TU Dortmund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Malina Abraham</dc:creator>
  <cp:lastModifiedBy>Marcus Röhming</cp:lastModifiedBy>
  <cp:revision>236</cp:revision>
  <dcterms:created xsi:type="dcterms:W3CDTF">2024-11-07T19:40:23Z</dcterms:created>
  <dcterms:modified xsi:type="dcterms:W3CDTF">2025-06-13T10:33:44Z</dcterms:modified>
</cp:coreProperties>
</file>